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dd299a8edb064567" /><Relationship Type="http://schemas.openxmlformats.org/officeDocument/2006/relationships/extended-properties" Target="/docProps/app.xml" Id="R9e3eeb6a4c6b45c1" /><Relationship Type="http://schemas.openxmlformats.org/officeDocument/2006/relationships/officeDocument" Target="/ppt/presentation.xml" Id="Rb6650dd485b04721" /></Relationships>
</file>

<file path=ppt/presentation.xml><?xml version="1.0" encoding="utf-8"?>
<p:presentation xmlns:p="http://schemas.openxmlformats.org/presentationml/2006/main">
  <p:sldMasterIdLst>
    <p:sldMasterId xmlns:r="http://schemas.openxmlformats.org/officeDocument/2006/relationships" id="2147483648" r:id="Rb13926ad6cfd47fb"/>
  </p:sldMasterIdLst>
  <p:notesMasterIdLst>
    <p:notesMasterId xmlns:r="http://schemas.openxmlformats.org/officeDocument/2006/relationships" r:id="Re46fb52d687d41a3"/>
  </p:notesMasterIdLst>
  <p:sldIdLst>
    <p:sldId xmlns:r="http://schemas.openxmlformats.org/officeDocument/2006/relationships" id="256" r:id="R7475babc903e4955"/>
    <p:sldId xmlns:r="http://schemas.openxmlformats.org/officeDocument/2006/relationships" id="257" r:id="R5cd3e5dff7eb40ee"/>
    <p:sldId xmlns:r="http://schemas.openxmlformats.org/officeDocument/2006/relationships" id="258" r:id="R3156e4460bbc4974"/>
    <p:sldId xmlns:r="http://schemas.openxmlformats.org/officeDocument/2006/relationships" id="259" r:id="R2a0c0f6b2ab44cf4"/>
    <p:sldId xmlns:r="http://schemas.openxmlformats.org/officeDocument/2006/relationships" id="260" r:id="Rc592e24ea0b14b97"/>
    <p:sldId xmlns:r="http://schemas.openxmlformats.org/officeDocument/2006/relationships" id="261" r:id="Rce7db9e919894f3e"/>
    <p:sldId xmlns:r="http://schemas.openxmlformats.org/officeDocument/2006/relationships" id="262" r:id="R6394396434fd4d6a"/>
    <p:sldId xmlns:r="http://schemas.openxmlformats.org/officeDocument/2006/relationships" id="263" r:id="R9f1c18deb71046b5"/>
    <p:sldId xmlns:r="http://schemas.openxmlformats.org/officeDocument/2006/relationships" id="264" r:id="R4c8c7089651c49b2"/>
    <p:sldId xmlns:r="http://schemas.openxmlformats.org/officeDocument/2006/relationships" id="265" r:id="R50624586fcfe4891"/>
    <p:sldId xmlns:r="http://schemas.openxmlformats.org/officeDocument/2006/relationships" id="266" r:id="Rdd53efcc42ad4e5c"/>
    <p:sldId xmlns:r="http://schemas.openxmlformats.org/officeDocument/2006/relationships" id="267" r:id="R59f6c04714ef44e7"/>
    <p:sldId xmlns:r="http://schemas.openxmlformats.org/officeDocument/2006/relationships" id="268" r:id="Rd9b7bc13ca654ddf"/>
    <p:sldId xmlns:r="http://schemas.openxmlformats.org/officeDocument/2006/relationships" id="269" r:id="R2b65de50aa6a4c3d"/>
    <p:sldId xmlns:r="http://schemas.openxmlformats.org/officeDocument/2006/relationships" id="270" r:id="R731dec6c0d764ee1"/>
    <p:sldId xmlns:r="http://schemas.openxmlformats.org/officeDocument/2006/relationships" id="271" r:id="R4b60345f289f4e0c"/>
    <p:sldId xmlns:r="http://schemas.openxmlformats.org/officeDocument/2006/relationships" id="272" r:id="R0aa01fe2645a4ffc"/>
    <p:sldId xmlns:r="http://schemas.openxmlformats.org/officeDocument/2006/relationships" id="273" r:id="R3039cc311126443c"/>
    <p:sldId xmlns:r="http://schemas.openxmlformats.org/officeDocument/2006/relationships" id="274" r:id="R4704fdc8c1444fdd"/>
    <p:sldId xmlns:r="http://schemas.openxmlformats.org/officeDocument/2006/relationships" id="275" r:id="Rcaa1839118a14699"/>
    <p:sldId xmlns:r="http://schemas.openxmlformats.org/officeDocument/2006/relationships" id="276" r:id="R290bfc5794c040f8"/>
    <p:sldId xmlns:r="http://schemas.openxmlformats.org/officeDocument/2006/relationships" id="277" r:id="R95a8cebab72d49eb"/>
    <p:sldId xmlns:r="http://schemas.openxmlformats.org/officeDocument/2006/relationships" id="278" r:id="R96c11172ae204e1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b0d15bb0ebd4124" /><Relationship Type="http://schemas.openxmlformats.org/officeDocument/2006/relationships/slideMaster" Target="/ppt/slideMasters/slideMaster1.xml" Id="Rb13926ad6cfd47fb" /><Relationship Type="http://schemas.openxmlformats.org/officeDocument/2006/relationships/notesMaster" Target="/ppt/notesMasters/notesMaster1.xml" Id="Re46fb52d687d41a3" /><Relationship Type="http://schemas.openxmlformats.org/officeDocument/2006/relationships/presProps" Target="/ppt/presProps.xml" Id="R7ac7fcfdcbdf4541" /><Relationship Type="http://schemas.openxmlformats.org/officeDocument/2006/relationships/tableStyles" Target="/ppt/tableStyles.xml" Id="Rd972c7e1e2ec429c" /><Relationship Type="http://schemas.openxmlformats.org/officeDocument/2006/relationships/slide" Target="/ppt/slides/slide1.xml" Id="R7475babc903e4955" /><Relationship Type="http://schemas.openxmlformats.org/officeDocument/2006/relationships/slide" Target="/ppt/slides/slide2.xml" Id="R5cd3e5dff7eb40ee" /><Relationship Type="http://schemas.openxmlformats.org/officeDocument/2006/relationships/slide" Target="/ppt/slides/slide3.xml" Id="R3156e4460bbc4974" /><Relationship Type="http://schemas.openxmlformats.org/officeDocument/2006/relationships/slide" Target="/ppt/slides/slide4.xml" Id="R2a0c0f6b2ab44cf4" /><Relationship Type="http://schemas.openxmlformats.org/officeDocument/2006/relationships/slide" Target="/ppt/slides/slide5.xml" Id="Rc592e24ea0b14b97" /><Relationship Type="http://schemas.openxmlformats.org/officeDocument/2006/relationships/slide" Target="/ppt/slides/slide6.xml" Id="Rce7db9e919894f3e" /><Relationship Type="http://schemas.openxmlformats.org/officeDocument/2006/relationships/slide" Target="/ppt/slides/slide7.xml" Id="R6394396434fd4d6a" /><Relationship Type="http://schemas.openxmlformats.org/officeDocument/2006/relationships/slide" Target="/ppt/slides/slide8.xml" Id="R9f1c18deb71046b5" /><Relationship Type="http://schemas.openxmlformats.org/officeDocument/2006/relationships/slide" Target="/ppt/slides/slide9.xml" Id="R4c8c7089651c49b2" /><Relationship Type="http://schemas.openxmlformats.org/officeDocument/2006/relationships/slide" Target="/ppt/slides/slide10.xml" Id="R50624586fcfe4891" /><Relationship Type="http://schemas.openxmlformats.org/officeDocument/2006/relationships/slide" Target="/ppt/slides/slide11.xml" Id="Rdd53efcc42ad4e5c" /><Relationship Type="http://schemas.openxmlformats.org/officeDocument/2006/relationships/slide" Target="/ppt/slides/slide12.xml" Id="R59f6c04714ef44e7" /><Relationship Type="http://schemas.openxmlformats.org/officeDocument/2006/relationships/slide" Target="/ppt/slides/slide13.xml" Id="Rd9b7bc13ca654ddf" /><Relationship Type="http://schemas.openxmlformats.org/officeDocument/2006/relationships/slide" Target="/ppt/slides/slide14.xml" Id="R2b65de50aa6a4c3d" /><Relationship Type="http://schemas.openxmlformats.org/officeDocument/2006/relationships/slide" Target="/ppt/slides/slide15.xml" Id="R731dec6c0d764ee1" /><Relationship Type="http://schemas.openxmlformats.org/officeDocument/2006/relationships/slide" Target="/ppt/slides/slide16.xml" Id="R4b60345f289f4e0c" /><Relationship Type="http://schemas.openxmlformats.org/officeDocument/2006/relationships/slide" Target="/ppt/slides/slide17.xml" Id="R0aa01fe2645a4ffc" /><Relationship Type="http://schemas.openxmlformats.org/officeDocument/2006/relationships/slide" Target="/ppt/slides/slide18.xml" Id="R3039cc311126443c" /><Relationship Type="http://schemas.openxmlformats.org/officeDocument/2006/relationships/slide" Target="/ppt/slides/slide19.xml" Id="R4704fdc8c1444fdd" /><Relationship Type="http://schemas.openxmlformats.org/officeDocument/2006/relationships/slide" Target="/ppt/slides/slide20.xml" Id="Rcaa1839118a14699" /><Relationship Type="http://schemas.openxmlformats.org/officeDocument/2006/relationships/slide" Target="/ppt/slides/slide21.xml" Id="R290bfc5794c040f8" /><Relationship Type="http://schemas.openxmlformats.org/officeDocument/2006/relationships/slide" Target="/ppt/slides/slide22.xml" Id="R95a8cebab72d49eb" /><Relationship Type="http://schemas.openxmlformats.org/officeDocument/2006/relationships/slide" Target="/ppt/slides/slide23.xml" Id="R96c11172ae204e1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c5a5fe2a9e9443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d3903250547450d" /><Relationship Type="http://schemas.openxmlformats.org/officeDocument/2006/relationships/notesMaster" Target="/ppt/notesMasters/notesMaster1.xml" Id="Rc3ebdff3518f4811" /></Relationships>
</file>

<file path=ppt/notesSlides/_rels/notesSlide2.xml.rels>&#65279;<?xml version="1.0" encoding="utf-8"?><Relationships xmlns="http://schemas.openxmlformats.org/package/2006/relationships"><Relationship Type="http://schemas.openxmlformats.org/officeDocument/2006/relationships/slide" Target="/ppt/slides/slide2.xml" Id="R886c11a45f104bc6" /><Relationship Type="http://schemas.openxmlformats.org/officeDocument/2006/relationships/notesMaster" Target="/ppt/notesMasters/notesMaster1.xml" Id="R876a522eaa4643a3" /></Relationships>
</file>

<file path=ppt/notesSlides/_rels/notesSlide3.xml.rels>&#65279;<?xml version="1.0" encoding="utf-8"?><Relationships xmlns="http://schemas.openxmlformats.org/package/2006/relationships"><Relationship Type="http://schemas.openxmlformats.org/officeDocument/2006/relationships/slide" Target="/ppt/slides/slide3.xml" Id="Rba9694024ba946f4" /><Relationship Type="http://schemas.openxmlformats.org/officeDocument/2006/relationships/notesMaster" Target="/ppt/notesMasters/notesMaster1.xml" Id="R6276644e84bb4333" /></Relationships>
</file>

<file path=ppt/notesSlides/_rels/notesSlide4.xml.rels>&#65279;<?xml version="1.0" encoding="utf-8"?><Relationships xmlns="http://schemas.openxmlformats.org/package/2006/relationships"><Relationship Type="http://schemas.openxmlformats.org/officeDocument/2006/relationships/slide" Target="/ppt/slides/slide4.xml" Id="Rf0dd7599dd364b2d" /><Relationship Type="http://schemas.openxmlformats.org/officeDocument/2006/relationships/notesMaster" Target="/ppt/notesMasters/notesMaster1.xml" Id="Re578d0737fc84547" /></Relationships>
</file>

<file path=ppt/notesSlides/_rels/notesSlide5.xml.rels>&#65279;<?xml version="1.0" encoding="utf-8"?><Relationships xmlns="http://schemas.openxmlformats.org/package/2006/relationships"><Relationship Type="http://schemas.openxmlformats.org/officeDocument/2006/relationships/slide" Target="/ppt/slides/slide5.xml" Id="R729f2a52a0ac4f5f" /><Relationship Type="http://schemas.openxmlformats.org/officeDocument/2006/relationships/notesMaster" Target="/ppt/notesMasters/notesMaster1.xml" Id="R4af33ce15f234943" /></Relationships>
</file>

<file path=ppt/notesSlides/_rels/notesSlide6.xml.rels>&#65279;<?xml version="1.0" encoding="utf-8"?><Relationships xmlns="http://schemas.openxmlformats.org/package/2006/relationships"><Relationship Type="http://schemas.openxmlformats.org/officeDocument/2006/relationships/slide" Target="/ppt/slides/slide6.xml" Id="Rb8e8bae4d8804801" /><Relationship Type="http://schemas.openxmlformats.org/officeDocument/2006/relationships/notesMaster" Target="/ppt/notesMasters/notesMaster1.xml" Id="Rad8745bb1152435b" /></Relationships>
</file>

<file path=ppt/notesSlides/_rels/notesSlide7.xml.rels>&#65279;<?xml version="1.0" encoding="utf-8"?><Relationships xmlns="http://schemas.openxmlformats.org/package/2006/relationships"><Relationship Type="http://schemas.openxmlformats.org/officeDocument/2006/relationships/slide" Target="/ppt/slides/slide7.xml" Id="Red979d9f8a83401c" /><Relationship Type="http://schemas.openxmlformats.org/officeDocument/2006/relationships/notesMaster" Target="/ppt/notesMasters/notesMaster1.xml" Id="R7e5a811b10424df3" /></Relationships>
</file>

<file path=ppt/notesSlides/_rels/notesSlide8.xml.rels>&#65279;<?xml version="1.0" encoding="utf-8"?><Relationships xmlns="http://schemas.openxmlformats.org/package/2006/relationships"><Relationship Type="http://schemas.openxmlformats.org/officeDocument/2006/relationships/slide" Target="/ppt/slides/slide8.xml" Id="Raa8765e4089840ac" /><Relationship Type="http://schemas.openxmlformats.org/officeDocument/2006/relationships/notesMaster" Target="/ppt/notesMasters/notesMaster1.xml" Id="Re7becdd0ca464f84" /></Relationships>
</file>

<file path=ppt/notesSlides/_rels/notesSlide9.xml.rels>&#65279;<?xml version="1.0" encoding="utf-8"?><Relationships xmlns="http://schemas.openxmlformats.org/package/2006/relationships"><Relationship Type="http://schemas.openxmlformats.org/officeDocument/2006/relationships/slide" Target="/ppt/slides/slide9.xml" Id="Rae9d82973ec34396" /><Relationship Type="http://schemas.openxmlformats.org/officeDocument/2006/relationships/notesMaster" Target="/ppt/notesMasters/notesMaster1.xml" Id="R8174ac71bf33465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2138fd2d81646d2" /><Relationship Type="http://schemas.openxmlformats.org/officeDocument/2006/relationships/notesMaster" Target="/ppt/notesMasters/notesMaster1.xml" Id="R062f0cfaebcc4eb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dbed72800f54d53" /><Relationship Type="http://schemas.openxmlformats.org/officeDocument/2006/relationships/notesMaster" Target="/ppt/notesMasters/notesMaster1.xml" Id="R9c83266fec9c480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6219def336b45f9" /><Relationship Type="http://schemas.openxmlformats.org/officeDocument/2006/relationships/notesMaster" Target="/ppt/notesMasters/notesMaster1.xml" Id="R9d94a3f7afc6432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dc42497744049b1" /><Relationship Type="http://schemas.openxmlformats.org/officeDocument/2006/relationships/notesMaster" Target="/ppt/notesMasters/notesMaster1.xml" Id="Rc27e20e3cfc94fb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92ab68e529b4fa7" /><Relationship Type="http://schemas.openxmlformats.org/officeDocument/2006/relationships/notesMaster" Target="/ppt/notesMasters/notesMaster1.xml" Id="R6f57b0ab0d5a49e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4c82e784b3e4ebd" /><Relationship Type="http://schemas.openxmlformats.org/officeDocument/2006/relationships/notesMaster" Target="/ppt/notesMasters/notesMaster1.xml" Id="R6c74026b93dc48b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0a632f736d241da" /><Relationship Type="http://schemas.openxmlformats.org/officeDocument/2006/relationships/notesMaster" Target="/ppt/notesMasters/notesMaster1.xml" Id="Re6e3149a59b8459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6132afcd4ab47be" /><Relationship Type="http://schemas.openxmlformats.org/officeDocument/2006/relationships/notesMaster" Target="/ppt/notesMasters/notesMaster1.xml" Id="R55f359328df5405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c4071cb45f84a8a" /><Relationship Type="http://schemas.openxmlformats.org/officeDocument/2006/relationships/notesMaster" Target="/ppt/notesMasters/notesMaster1.xml" Id="Rbba7b23ad85a459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1face7c99c24ea7" /><Relationship Type="http://schemas.openxmlformats.org/officeDocument/2006/relationships/notesMaster" Target="/ppt/notesMasters/notesMaster1.xml" Id="R495beceb963543a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e730a6743584144" /><Relationship Type="http://schemas.openxmlformats.org/officeDocument/2006/relationships/notesMaster" Target="/ppt/notesMasters/notesMaster1.xml" Id="R7183a3b85203423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c4aaa329a2b4125" /><Relationship Type="http://schemas.openxmlformats.org/officeDocument/2006/relationships/notesMaster" Target="/ppt/notesMasters/notesMaster1.xml" Id="Rbbfe65a04da843b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18df9664b7f4fde" /><Relationship Type="http://schemas.openxmlformats.org/officeDocument/2006/relationships/notesMaster" Target="/ppt/notesMasters/notesMaster1.xml" Id="R708842628b6c47b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35b5c7098fe34327" /><Relationship Type="http://schemas.openxmlformats.org/officeDocument/2006/relationships/notesMaster" Target="/ppt/notesMasters/notesMaster1.xml" Id="Rf7ad1bf04355469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35 s</a:t>
            </a:r>
          </a:p>
          <a:p xmlns:a="http://schemas.openxmlformats.org/drawingml/2006/main">
            <a:r>
              <a:t/>
            </a:r>
          </a:p>
          <a:p xmlns:a="http://schemas.openxmlformats.org/drawingml/2006/main">
            <a:r>
              <a:t>Apresentar o experimento como estudo de caso. O tema de ondas gravitacionais forneceu a tarefa científica, mas a pergunta desta apresentação é sobre automação, formação e avaliação. Não pressupor conhecimento de física.</a:t>
            </a:r>
          </a:p>
          <a:p xmlns:a="http://schemas.openxmlformats.org/drawingml/2006/main">
            <a:r>
              <a:t/>
            </a:r>
          </a:p>
          <a:p xmlns:a="http://schemas.openxmlformats.org/drawingml/2006/main">
            <a:r>
              <a:t>Fontes: Relatório do estudo de caso, introdução.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65 s</a:t>
            </a:r>
          </a:p>
          <a:p xmlns:a="http://schemas.openxmlformats.org/drawingml/2006/main">
            <a:r>
              <a:t/>
            </a:r>
          </a:p>
          <a:p xmlns:a="http://schemas.openxmlformats.org/drawingml/2006/main">
            <a:r>
              <a:t>Distinguir qualidade do produto, aprendizagem e responsabilidade. A proposta era observar até onde o agente iria com orientação científica inicial mínima. O objetivo não é detectar uso de IA em textos.</a:t>
            </a:r>
          </a:p>
          <a:p xmlns:a="http://schemas.openxmlformats.org/drawingml/2006/main">
            <a:r>
              <a:t/>
            </a:r>
          </a:p>
          <a:p xmlns:a="http://schemas.openxmlformats.org/drawingml/2006/main">
            <a:r>
              <a:t>Fontes: Relatório, seções 8 a 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80 s</a:t>
            </a:r>
          </a:p>
          <a:p xmlns:a="http://schemas.openxmlformats.org/drawingml/2006/main">
            <a:r>
              <a:t/>
            </a:r>
          </a:p>
          <a:p xmlns:a="http://schemas.openxmlformats.org/drawingml/2006/main">
            <a:r>
              <a:t>O proponente forneceu um trabalho de graduação e pediu extensões implementáveis com potencial de artigo. Declarou não dominar a área. O agente precisou procurar antecedentes e formular o recorte. A imagem é a página real do TG e não uma representação gerada.</a:t>
            </a:r>
          </a:p>
          <a:p xmlns:a="http://schemas.openxmlformats.org/drawingml/2006/main">
            <a:r>
              <a:t/>
            </a:r>
          </a:p>
          <a:p xmlns:a="http://schemas.openxmlformats.org/drawingml/2006/main">
            <a:r>
              <a:t>Fontes: TG_Wayne.pdf, página 1. Relatório, seções 1 e 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70 s</a:t>
            </a:r>
          </a:p>
          <a:p xmlns:a="http://schemas.openxmlformats.org/drawingml/2006/main">
            <a:r>
              <a:t/>
            </a:r>
          </a:p>
          <a:p xmlns:a="http://schemas.openxmlformats.org/drawingml/2006/main">
            <a:r>
              <a:t>A participação humana foi de direção, recursos, formato e mediação dos pareceres. O Codex coordenou três subagentes e executou o trabalho científico. O Gemini elaborou dois pareceres, conforme esclarecido pelo usuário. Não se conhece sua versão.</a:t>
            </a:r>
          </a:p>
          <a:p xmlns:a="http://schemas.openxmlformats.org/drawingml/2006/main">
            <a:r>
              <a:t/>
            </a:r>
          </a:p>
          <a:p xmlns:a="http://schemas.openxmlformats.org/drawingml/2006/main">
            <a:r>
              <a:t>Fontes: Conversa de execução. Relatório, seções 2, 2.1 e 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85 s</a:t>
            </a:r>
          </a:p>
          <a:p xmlns:a="http://schemas.openxmlformats.org/drawingml/2006/main">
            <a:r>
              <a:t/>
            </a:r>
          </a:p>
          <a:p xmlns:a="http://schemas.openxmlformats.org/drawingml/2006/main">
            <a:r>
              <a:t>Todos os horários são de Brasília. A primeira fase incluiu pausas e mudanças de estado. A revisão do artigo ocorreu depois do goal original e não está incluída em seu contador.</a:t>
            </a:r>
          </a:p>
          <a:p xmlns:a="http://schemas.openxmlformats.org/drawingml/2006/main">
            <a:r>
              <a:t/>
            </a:r>
          </a:p>
          <a:p xmlns:a="http://schemas.openxmlformats.org/drawingml/2006/main">
            <a:r>
              <a:t>Fontes: Relatório, seções 1, 2, 2.1 e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85 s</a:t>
            </a:r>
          </a:p>
          <a:p xmlns:a="http://schemas.openxmlformats.org/drawingml/2006/main">
            <a:r>
              <a:t/>
            </a:r>
          </a:p>
          <a:p xmlns:a="http://schemas.openxmlformats.org/drawingml/2006/main">
            <a:r>
              <a:t>Os resultados centrais do TG já tinham publicação derivada. O agente considerou caminhos alternativos e encontrou antecedentes próximos. A decisão foi reduzir a reivindicação de novidade a uma comparação controlada, e não inventar as técnicas empregadas. Não houve revisão sistemática exaustiva.</a:t>
            </a:r>
          </a:p>
          <a:p xmlns:a="http://schemas.openxmlformats.org/drawingml/2006/main">
            <a:r>
              <a:t/>
            </a:r>
          </a:p>
          <a:p xmlns:a="http://schemas.openxmlformats.org/drawingml/2006/main">
            <a:r>
              <a:t>Fontes: output/pesquisa/proposta_mestrado.md e docs/literatura/decisao_recorte.md.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70 s</a:t>
            </a:r>
          </a:p>
          <a:p xmlns:a="http://schemas.openxmlformats.org/drawingml/2006/main">
            <a:r>
              <a:t/>
            </a:r>
          </a:p>
          <a:p xmlns:a="http://schemas.openxmlformats.org/drawingml/2006/main">
            <a:r>
              <a:t>O plano tinha 13 marcos. Não se esperou o cronograma convencional de 24 meses. Cada marco previa entregas verificáveis e PDF. Houve versões intermediárias, dificuldades de recursos e mudanças de método. A etapa concluída não garante que sua pergunta tenha resposta definitiva.</a:t>
            </a:r>
          </a:p>
          <a:p xmlns:a="http://schemas.openxmlformats.org/drawingml/2006/main">
            <a:r>
              <a:t/>
            </a:r>
          </a:p>
          <a:p xmlns:a="http://schemas.openxmlformats.org/drawingml/2006/main">
            <a:r>
              <a:t>Fontes: implementation_plan/roadmap.json. Relatório, seção 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70 s</a:t>
            </a:r>
          </a:p>
          <a:p xmlns:a="http://schemas.openxmlformats.org/drawingml/2006/main">
            <a:r>
              <a:t/>
            </a:r>
          </a:p>
          <a:p xmlns:a="http://schemas.openxmlformats.org/drawingml/2006/main">
            <a:r>
              <a:t>As imagens mostram páginas reais dos documentos. A dissertação final tem 167 páginas. O manuscrito tinha sete na v1.0.0 e passou a nove. Também existem duas apresentações científicas. O produto atual continua sem defesa institucional ou submissão editorial.</a:t>
            </a:r>
          </a:p>
          <a:p xmlns:a="http://schemas.openxmlformats.org/drawingml/2006/main">
            <a:r>
              <a:t/>
            </a:r>
          </a:p>
          <a:p xmlns:a="http://schemas.openxmlformats.org/drawingml/2006/main">
            <a:r>
              <a:t>Fontes: output/pdf/v1.0.0/dissertacao.pdf, página 1. article/manuscript.pdf, página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75 s</a:t>
            </a:r>
          </a:p>
          <a:p xmlns:a="http://schemas.openxmlformats.org/drawingml/2006/main">
            <a:r>
              <a:t/>
            </a:r>
          </a:p>
          <a:p xmlns:a="http://schemas.openxmlformats.org/drawingml/2006/main">
            <a:r>
              <a:t>O gráfico mede linhas físicas na tag v1.0.0, incluindo comentários e linhas vazias. As 45.528 análises somam C07, C09, C10 e C11 e compartilham dados, portanto não são observações independentes. Não somar reproduções como novos experimentos.</a:t>
            </a:r>
          </a:p>
          <a:p xmlns:a="http://schemas.openxmlformats.org/drawingml/2006/main">
            <a:r>
              <a:t/>
            </a:r>
          </a:p>
          <a:p xmlns:a="http://schemas.openxmlformats.org/drawingml/2006/main">
            <a:r>
              <a:t>Fontes: evidencias.json, code_groups. Relatório, seção 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75 s</a:t>
            </a:r>
          </a:p>
          <a:p xmlns:a="http://schemas.openxmlformats.org/drawingml/2006/main">
            <a:r>
              <a:t/>
            </a:r>
          </a:p>
          <a:p xmlns:a="http://schemas.openxmlformats.org/drawingml/2006/main">
            <a:r>
              <a:t>O goal retornou 111086 segundos. O calendário entre criação e encerramento foi 197802 segundos, com pausas. A revisão adicional do artigo levou cerca de 6min37s no Codex, sem incluir o Gemini. Não é uma comparação de produtividade com um estudante.</a:t>
            </a:r>
          </a:p>
          <a:p xmlns:a="http://schemas.openxmlformats.org/drawingml/2006/main">
            <a:r>
              <a:t/>
            </a:r>
          </a:p>
          <a:p xmlns:a="http://schemas.openxmlformats.org/drawingml/2006/main">
            <a:r>
              <a:t>Fontes: Eventos do goal e complementos_pos_goal.json. Relatório, seção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75 s</a:t>
            </a:r>
          </a:p>
          <a:p xmlns:a="http://schemas.openxmlformats.org/drawingml/2006/main">
            <a:r>
              <a:t/>
            </a:r>
          </a:p>
          <a:p xmlns:a="http://schemas.openxmlformats.org/drawingml/2006/main">
            <a:r>
              <a:t>O usuário estima ter gasto uma semana de sua cota, à qual atribui cerca de US$ 50. É um rateio da assinatura, sem equivalência contratual com créditos. A conta da API Standard aplica preços de 13/09/2026 aos registros individuais do agente principal e três subagentes: US$ 1.289,34 até o goal e US$ 14,29 de complementos científicos, total de US$ 1.303,63. Entrada sem cache: 20.583.691 tokens; em cache: 822.046.336; saída: 5.229.122. 97,56% da entrada foi cache. Não somar o contador do goal. Fast dobra o preço. Gravações de cache não aparecem nos registros; considerar toda entrada nova como gravação acrescentaria cerca de US$ 53, mantida a reutilização. Exclui Gemini, ferramentas, computação local e elaboração do estudo de caso. Uma nova execução pode custar diferente.</a:t>
            </a:r>
          </a:p>
          <a:p xmlns:a="http://schemas.openxmlformats.org/drawingml/2006/main">
            <a:r>
              <a:t/>
            </a:r>
          </a:p>
          <a:p xmlns:a="http://schemas.openxmlformats.org/drawingml/2006/main">
            <a:r>
              <a:t>Fontes: Relatório, seção 7.1; estimativa_custo_api.json. Preços em developers.openai.com/api/docs/models/gpt-6-astra, consultados em 13/09/2026.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85 s</a:t>
            </a:r>
          </a:p>
          <a:p xmlns:a="http://schemas.openxmlformats.org/drawingml/2006/main">
            <a:r>
              <a:t/>
            </a:r>
          </a:p>
          <a:p xmlns:a="http://schemas.openxmlformats.org/drawingml/2006/main">
            <a:r>
              <a:t>Explicar cobertura como a frequência com que uma faixa estimada contém o valor usado para gerar os dados. Em um parâmetro de ruído, uma análise nominal de 90% atingiu 313 de 500 casos, 62,6%. Não generalizar esse número para todos os parâmetros ou todos os métodos. A incerteza numérica levava a contagens de 299 a 325, ainda longe de 450.</a:t>
            </a:r>
          </a:p>
          <a:p xmlns:a="http://schemas.openxmlformats.org/drawingml/2006/main">
            <a:r>
              <a:t/>
            </a:r>
          </a:p>
          <a:p xmlns:a="http://schemas.openxmlformats.org/drawingml/2006/main">
            <a:r>
              <a:t>Fontes: docs/revisao_cientifica_1.md e results/C13/review_efac_coverage.json.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80 s</a:t>
            </a:r>
          </a:p>
          <a:p xmlns:a="http://schemas.openxmlformats.org/drawingml/2006/main">
            <a:r>
              <a:t/>
            </a:r>
          </a:p>
          <a:p xmlns:a="http://schemas.openxmlformats.org/drawingml/2006/main">
            <a:r>
              <a:t>Separar erro editorial, problema de execução e limitação científica. A descrição das aproximações em uma versão estava incorreta, mas o cálculo usava a semântica correta. A comparação ampla continuou inconclusiva. Um estudo com 50 casos e parâmetros fixados respondeu a uma pergunta menor com precisão.</a:t>
            </a:r>
          </a:p>
          <a:p xmlns:a="http://schemas.openxmlformats.org/drawingml/2006/main">
            <a:r>
              <a:t/>
            </a:r>
          </a:p>
          <a:p xmlns:a="http://schemas.openxmlformats.org/drawingml/2006/main">
            <a:r>
              <a:t>Fontes: docs/c12_errata_v0110.md, docs/revisao_cientifica_1.md.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75 s</a:t>
            </a:r>
          </a:p>
          <a:p xmlns:a="http://schemas.openxmlformats.org/drawingml/2006/main">
            <a:r>
              <a:t/>
            </a:r>
          </a:p>
          <a:p xmlns:a="http://schemas.openxmlformats.org/drawingml/2006/main">
            <a:r>
              <a:t>O primeiro parecer motivou novos estudos, como as 300 análises condicionais e o teste de ajuste temporal. O segundo foi uma revisão do manuscrito e não iniciou novas simulações. Não se dispõe da conversa original do Gemini ou de sua versão.</a:t>
            </a:r>
          </a:p>
          <a:p xmlns:a="http://schemas.openxmlformats.org/drawingml/2006/main">
            <a:r>
              <a:t/>
            </a:r>
          </a:p>
          <a:p xmlns:a="http://schemas.openxmlformats.org/drawingml/2006/main">
            <a:r>
              <a:t>Fontes: Relatório, seções 2 e 2.1. article/REVISION_NOTES.md.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80 s</a:t>
            </a:r>
          </a:p>
          <a:p xmlns:a="http://schemas.openxmlformats.org/drawingml/2006/main">
            <a:r>
              <a:t/>
            </a:r>
          </a:p>
          <a:p xmlns:a="http://schemas.openxmlformats.org/drawingml/2006/main">
            <a:r>
              <a:t>Mostrar o valor e o risco do feedback automatizado. O agente aceitou melhorias de exposição, mas as notas de revisão recusam novidade absoluta, certeza de falha em dados reais e amplificações extremas não demonstradas. O ponto é o contraste entre persuasão retórica e suporte científico.</a:t>
            </a:r>
          </a:p>
          <a:p xmlns:a="http://schemas.openxmlformats.org/drawingml/2006/main">
            <a:r>
              <a:t/>
            </a:r>
          </a:p>
          <a:p xmlns:a="http://schemas.openxmlformats.org/drawingml/2006/main">
            <a:r>
              <a:t>Fontes: article/REVISION_NOTES.md, commit 26ae3ac.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80 s</a:t>
            </a:r>
          </a:p>
          <a:p xmlns:a="http://schemas.openxmlformats.org/drawingml/2006/main">
            <a:r>
              <a:t/>
            </a:r>
          </a:p>
          <a:p xmlns:a="http://schemas.openxmlformats.org/drawingml/2006/main">
            <a:r>
              <a:t>Evitar extrapolar o estudo de caso. Os produtos existem e há rastros de execução. Não houve avaliação científica independente completa, teste de aprendizagem ou aceitação editorial. Uma revisão entre modelos é observável, mas seu ganho de qualidade não foi medido por avaliadores externos.</a:t>
            </a:r>
          </a:p>
          <a:p xmlns:a="http://schemas.openxmlformats.org/drawingml/2006/main">
            <a:r>
              <a:t/>
            </a:r>
          </a:p>
          <a:p xmlns:a="http://schemas.openxmlformats.org/drawingml/2006/main">
            <a:r>
              <a:t>Fontes: Relatório, seções 8 a 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80 s</a:t>
            </a:r>
          </a:p>
          <a:p xmlns:a="http://schemas.openxmlformats.org/drawingml/2006/main">
            <a:r>
              <a:t/>
            </a:r>
          </a:p>
          <a:p xmlns:a="http://schemas.openxmlformats.org/drawingml/2006/main">
            <a:r>
              <a:t>Oportunidades: explorar ideias que não chegariam à implementação e testar mais alternativas. Dificuldade: produzir pode se tornar mais rápido que compreender e validar. Não apresentar esse deslocamento como medição de todo o campo, mas como hipótese sustentada pela experiência do caso.</a:t>
            </a:r>
          </a:p>
          <a:p xmlns:a="http://schemas.openxmlformats.org/drawingml/2006/main">
            <a:r>
              <a:t/>
            </a:r>
          </a:p>
          <a:p xmlns:a="http://schemas.openxmlformats.org/drawingml/2006/main">
            <a:r>
              <a:t>Fontes: Relatório, seções 8 e 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75 s</a:t>
            </a:r>
          </a:p>
          <a:p xmlns:a="http://schemas.openxmlformats.org/drawingml/2006/main">
            <a:r>
              <a:t/>
            </a:r>
          </a:p>
          <a:p xmlns:a="http://schemas.openxmlformats.org/drawingml/2006/main">
            <a:r>
              <a:t>Destacar responsabilidades compartilhadas pelo programa, orientador e estudante. Propor avaliações distribuídas e distinguir exercício para aprender de tarefa de produção. A defesa deve complementar esse percurso. O caso não testa a eficácia destas propostas.</a:t>
            </a:r>
          </a:p>
          <a:p xmlns:a="http://schemas.openxmlformats.org/drawingml/2006/main">
            <a:r>
              <a:t/>
            </a:r>
          </a:p>
          <a:p xmlns:a="http://schemas.openxmlformats.org/drawingml/2006/main">
            <a:r>
              <a:t>Fontes: Relatório, seção 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70 s</a:t>
            </a:r>
          </a:p>
          <a:p xmlns:a="http://schemas.openxmlformats.org/drawingml/2006/main">
            <a:r>
              <a:t/>
            </a:r>
          </a:p>
          <a:p xmlns:a="http://schemas.openxmlformats.org/drawingml/2006/main">
            <a:r>
              <a:t>Discutir possíveis consequências de aumento da produção sem afirmar colapso observado de periódicos. Origem humana ou de IA não decide relevância. Contribuições incrementais podem ser valiosas se resolvem incerteza importante. Oportunidade de usar a capacidade extra para profundidade, controle e síntese.</a:t>
            </a:r>
          </a:p>
          <a:p xmlns:a="http://schemas.openxmlformats.org/drawingml/2006/main">
            <a:r>
              <a:t/>
            </a:r>
          </a:p>
          <a:p xmlns:a="http://schemas.openxmlformats.org/drawingml/2006/main">
            <a:r>
              <a:t>Fontes: Relatório, seção 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75 s</a:t>
            </a:r>
          </a:p>
          <a:p xmlns:a="http://schemas.openxmlformats.org/drawingml/2006/main">
            <a:r>
              <a:t/>
            </a:r>
          </a:p>
          <a:p xmlns:a="http://schemas.openxmlformats.org/drawingml/2006/main">
            <a:r>
              <a:t>Estas são propostas ainda não executadas. Especialistas poderiam comparar artigo antes e depois do Gemini, checar argumentos e reproduzir resultados centrais. Para aprendizagem seria necessário outro desenho com estudantes e medidas antes e depois.</a:t>
            </a:r>
          </a:p>
          <a:p xmlns:a="http://schemas.openxmlformats.org/drawingml/2006/main">
            <a:r>
              <a:t/>
            </a:r>
          </a:p>
          <a:p xmlns:a="http://schemas.openxmlformats.org/drawingml/2006/main">
            <a:r>
              <a:t>Fontes: Relatório, seção 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110 s</a:t>
            </a:r>
          </a:p>
          <a:p xmlns:a="http://schemas.openxmlformats.org/drawingml/2006/main">
            <a:r>
              <a:t/>
            </a:r>
          </a:p>
          <a:p xmlns:a="http://schemas.openxmlformats.org/drawingml/2006/main">
            <a:r>
              <a:t>Reservar cerca de dois minutos para encerrar ou abrir uma conversa. Na versão de 20 minutos, selecionar apenas uma questão. Na de 30 minutos, usar o tempo restante para ouvir respostas. Não tratar os produtos como títulos acadêmicos aprovados.</a:t>
            </a:r>
          </a:p>
          <a:p xmlns:a="http://schemas.openxmlformats.org/drawingml/2006/main">
            <a:r>
              <a:t/>
            </a:r>
          </a:p>
          <a:p xmlns:a="http://schemas.openxmlformats.org/drawingml/2006/main">
            <a:r>
              <a:t>Fontes: Relatório do estudo de caso, discussão.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Apoio opcional</a:t>
            </a:r>
          </a:p>
          <a:p xmlns:a="http://schemas.openxmlformats.org/drawingml/2006/main">
            <a:r>
              <a:t/>
            </a:r>
          </a:p>
          <a:p xmlns:a="http://schemas.openxmlformats.org/drawingml/2006/main">
            <a:r>
              <a:t>Abrir apenas se perguntarem pelas contagens. Todas são do fechamento v1.0.0, exceto o manuscrito revisado. Os arquivos de evidências documentam regras e exclusões.</a:t>
            </a:r>
          </a:p>
          <a:p xmlns:a="http://schemas.openxmlformats.org/drawingml/2006/main">
            <a:r>
              <a:t/>
            </a:r>
          </a:p>
          <a:p xmlns:a="http://schemas.openxmlformats.org/drawingml/2006/main">
            <a:r>
              <a:t>Fontes: evidencias.json, complementos_pos_goal.json.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Apoio opcional</a:t>
            </a:r>
          </a:p>
          <a:p xmlns:a="http://schemas.openxmlformats.org/drawingml/2006/main">
            <a:r>
              <a:t/>
            </a:r>
          </a:p>
          <a:p xmlns:a="http://schemas.openxmlformats.org/drawingml/2006/main">
            <a:r>
              <a:t>Links completos também estão nas notas e no README. A apresentação usa a conversa de execução e artefatos do próprio projeto. Discussões privadas não foram transcritas.</a:t>
            </a:r>
          </a:p>
          <a:p xmlns:a="http://schemas.openxmlformats.org/drawingml/2006/main">
            <a:r>
              <a:t/>
            </a:r>
          </a:p>
          <a:p xmlns:a="http://schemas.openxmlformats.org/drawingml/2006/main">
            <a:r>
              <a:t>Fontes: https://github.com/flavioluiz/TGdoWayne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b67021a5b05456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a66c52151824b65" /><Relationship Type="http://schemas.openxmlformats.org/officeDocument/2006/relationships/slideLayout" Target="/ppt/slideLayouts/slideLayout1.xml" Id="R30557920b76b496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0557920b76b496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c9fc9bf8bc04a88" /><Relationship Type="http://schemas.openxmlformats.org/officeDocument/2006/relationships/notesSlide" Target="/ppt/notesSlides/notesSlide1.xml" Id="R0f8385c0eded40c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f3f0836d2804ddf" /><Relationship Type="http://schemas.openxmlformats.org/officeDocument/2006/relationships/notesSlide" Target="/ppt/notesSlides/notesSlide2.xml" Id="Rd1c8760e55e44f9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151196ccd244c1e" /><Relationship Type="http://schemas.openxmlformats.org/officeDocument/2006/relationships/image" Target="/ppt/media/image.png" Id="R7c418fe0b15a4e0f" /><Relationship Type="http://schemas.openxmlformats.org/officeDocument/2006/relationships/notesSlide" Target="/ppt/notesSlides/notesSlide3.xml" Id="R6e7e4d435e0642a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40f75ed6d83478e" /><Relationship Type="http://schemas.openxmlformats.org/officeDocument/2006/relationships/notesSlide" Target="/ppt/notesSlides/notesSlide4.xml" Id="Rbac1251f0b5e4f9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fab352879974e39" /><Relationship Type="http://schemas.openxmlformats.org/officeDocument/2006/relationships/notesSlide" Target="/ppt/notesSlides/notesSlide5.xml" Id="R712c673d784a46b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e7b107e6a914d5b" /><Relationship Type="http://schemas.openxmlformats.org/officeDocument/2006/relationships/notesSlide" Target="/ppt/notesSlides/notesSlide6.xml" Id="R78154f6697cf40a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39279d4156d48ed" /><Relationship Type="http://schemas.openxmlformats.org/officeDocument/2006/relationships/notesSlide" Target="/ppt/notesSlides/notesSlide7.xml" Id="R37fb986c4dd04c1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8fc708742714ed6" /><Relationship Type="http://schemas.openxmlformats.org/officeDocument/2006/relationships/image" Target="/ppt/media/image2.png" Id="Rce3cbe2558134ea8" /><Relationship Type="http://schemas.openxmlformats.org/officeDocument/2006/relationships/image" Target="/ppt/media/image3.png" Id="R838a8572a6254d68" /><Relationship Type="http://schemas.openxmlformats.org/officeDocument/2006/relationships/notesSlide" Target="/ppt/notesSlides/notesSlide8.xml" Id="Ra3165da4bb0041c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74fa3b59eb84487" /><Relationship Type="http://schemas.openxmlformats.org/officeDocument/2006/relationships/chart" Target="/ppt/slides/charts/chart1.xml" Id="Ra33cf8b887984582" /><Relationship Type="http://schemas.openxmlformats.org/officeDocument/2006/relationships/notesSlide" Target="/ppt/notesSlides/notesSlide9.xml" Id="R62138d10309047e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8d5513d3f9c4d1e" /><Relationship Type="http://schemas.openxmlformats.org/officeDocument/2006/relationships/notesSlide" Target="/ppt/notesSlides/notesSlide10.xml" Id="R534989f2e1764f4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916e3f1bba647f2" /><Relationship Type="http://schemas.openxmlformats.org/officeDocument/2006/relationships/notesSlide" Target="/ppt/notesSlides/notesSlide11.xml" Id="Recd68bdc47f541b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28bc1d337df4886" /><Relationship Type="http://schemas.openxmlformats.org/officeDocument/2006/relationships/notesSlide" Target="/ppt/notesSlides/notesSlide12.xml" Id="R6ae47e83afa2405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174aa0195784722" /><Relationship Type="http://schemas.openxmlformats.org/officeDocument/2006/relationships/notesSlide" Target="/ppt/notesSlides/notesSlide13.xml" Id="R28b3c9b13869436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d1a1a74c5da43a9" /><Relationship Type="http://schemas.openxmlformats.org/officeDocument/2006/relationships/notesSlide" Target="/ppt/notesSlides/notesSlide14.xml" Id="Rfbbb435156a447b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eaf69e3984146a9" /><Relationship Type="http://schemas.openxmlformats.org/officeDocument/2006/relationships/notesSlide" Target="/ppt/notesSlides/notesSlide15.xml" Id="Ref41aa7c8d82415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cb0237b1fb344206" /><Relationship Type="http://schemas.openxmlformats.org/officeDocument/2006/relationships/notesSlide" Target="/ppt/notesSlides/notesSlide16.xml" Id="R2733822463ad492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0eca5c2c1e1f41d0" /><Relationship Type="http://schemas.openxmlformats.org/officeDocument/2006/relationships/notesSlide" Target="/ppt/notesSlides/notesSlide17.xml" Id="Re0dabac407d642d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5d1534f2b854b22" /><Relationship Type="http://schemas.openxmlformats.org/officeDocument/2006/relationships/notesSlide" Target="/ppt/notesSlides/notesSlide18.xml" Id="R2bc759acbaf54c2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61ce15a225374f1d" /><Relationship Type="http://schemas.openxmlformats.org/officeDocument/2006/relationships/notesSlide" Target="/ppt/notesSlides/notesSlide19.xml" Id="Rf4af5f44da56413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d2f8d840144f442f" /><Relationship Type="http://schemas.openxmlformats.org/officeDocument/2006/relationships/notesSlide" Target="/ppt/notesSlides/notesSlide20.xml" Id="R6248bd4b9b234bc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f0de82c4162d4195" /><Relationship Type="http://schemas.openxmlformats.org/officeDocument/2006/relationships/notesSlide" Target="/ppt/notesSlides/notesSlide21.xml" Id="R041a7ec06c634eb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71753b434c514a74" /><Relationship Type="http://schemas.openxmlformats.org/officeDocument/2006/relationships/notesSlide" Target="/ppt/notesSlides/notesSlide22.xml" Id="Rbbafba6278fb43d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1cb48622b7c449af" /><Relationship Type="http://schemas.openxmlformats.org/officeDocument/2006/relationships/notesSlide" Target="/ppt/notesSlides/notesSlide23.xml" Id="R7b724cd9b45440ee"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Linhas físicas</c:v>
          </c:tx>
          <c:spPr>
            <a:solidFill xmlns:a="http://schemas.openxmlformats.org/drawingml/2006/main">
              <a:srgbClr val="087F8C"/>
            </a:solidFill>
          </c:spPr>
          <c:cat>
            <c:strRef>
              <c:f>'Chart Data'!$A$2:$A$4</c:f>
              <c:strCache>
                <c:ptCount val="3"/>
                <c:pt idx="0">
                  <c:v>Módulos</c:v>
                </c:pt>
                <c:pt idx="1">
                  <c:v>Scripts</c:v>
                </c:pt>
                <c:pt idx="2">
                  <c:v>Testes</c:v>
                </c:pt>
              </c:strCache>
            </c:strRef>
          </c:cat>
          <c:val>
            <c:numRef>
              <c:f>'Chart Data'!$B$2:$B$4</c:f>
              <c:numCache>
                <c:formatCode>General</c:formatCode>
                <c:ptCount val="3"/>
                <c:pt idx="0">
                  <c:v>7138</c:v>
                </c:pt>
                <c:pt idx="1">
                  <c:v>15320</c:v>
                </c:pt>
                <c:pt idx="2">
                  <c:v>3611</c:v>
                </c:pt>
              </c:numCache>
            </c:numRef>
          </c:val>
        </c:ser>
        <c:dLbls>
          <c:txPr>
            <a:bodyPr xmlns:a="http://schemas.openxmlformats.org/drawingml/2006/main" anchorCtr="1"/>
            <a:lstStyle xmlns:a="http://schemas.openxmlformats.org/drawingml/2006/main"/>
            <a:p xmlns:a="http://schemas.openxmlformats.org/drawingml/2006/main">
              <a:pPr>
                <a:defRPr sz="1800">
                  <a:latin typeface="Arial"/>
                  <a:ea typeface="Arial"/>
                  <a:cs typeface="Aria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Arial"/>
                <a:ea typeface="Arial"/>
                <a:cs typeface="Aria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666666"/>
                </a:solidFill>
                <a:latin typeface="Arial"/>
                <a:ea typeface="Arial"/>
                <a:cs typeface="Arial"/>
              </a:defRPr>
            </a:pPr>
          </a:p>
        </c:txPr>
        <c:crossAx val="48650112"/>
        <c:crossBetween val="between"/>
      </c:valAx>
      <c:spPr>
        <a:solidFill xmlns:a="http://schemas.openxmlformats.org/drawingml/2006/main">
          <a:srgbClr val="F7F5F0"/>
        </a:solidFill>
      </c:spPr>
    </c:plotArea>
    <c:plotVisOnly val="1"/>
  </c:chart>
  <c:spPr>
    <a:solidFill xmlns:a="http://schemas.openxmlformats.org/drawingml/2006/main">
      <a:srgbClr val="F7F5F0"/>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7324D"/>
        </a:solidFill>
      </p:bgPr>
    </p:bg>
    <p:spTree>
      <p:nvGrpSpPr>
        <p:cNvPr id="1" name=""/>
        <p:cNvGrpSpPr/>
        <p:nvPr/>
      </p:nvGrpSpPr>
      <p:grpSpPr>
        <a:xfrm xmlns:a="http://schemas.openxmlformats.org/drawingml/2006/main"/>
      </p:grpSpPr>
      <p:sp>
        <p:nvSpPr>
          <p:cNvPr id="5" name="Pesquisa acadêmica com agentes de IA">
            <a:extLst xmlns:a="http://schemas.openxmlformats.org/drawingml/2006/main">
              <a:ext uri="{FF2B5EF4-FFF2-40B4-BE49-F238E27FC236}">
                <a16:creationId xmlns:a16="http://schemas.microsoft.com/office/drawing/2014/main" id="{D20D5D6A-72AD-479E-BB7B-5D5635B223EF}"/>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Pesquisa acadêmica com agentes de IA</a:t>
            </a:r>
          </a:p>
        </p:txBody>
      </p:sp>
      <p:sp>
        <p:nvSpPr>
          <p:cNvPr id="2" name="1 / 21">
            <a:extLst xmlns:a="http://schemas.openxmlformats.org/drawingml/2006/main">
              <a:ext uri="{FF2B5EF4-FFF2-40B4-BE49-F238E27FC236}">
                <a16:creationId xmlns:a16="http://schemas.microsoft.com/office/drawing/2014/main" id="{3C08E3B7-F4FB-4DC5-8119-EC65292FCCF0}"/>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B6CCD8"/>
                </a:solidFill>
                <a:latin typeface="Arial"/>
                <a:ea typeface="Arial"/>
                <a:cs typeface="Arial"/>
              </a:defRPr>
            </a:pPr>
            <a:r>
              <a:rPr sz="1275" b="0">
                <a:solidFill>
                  <a:srgbClr val="B6CCD8"/>
                </a:solidFill>
                <a:latin typeface="Arial"/>
                <a:ea typeface="Arial"/>
                <a:cs typeface="Arial"/>
              </a:rPr>
              <a:t>1 / 21</a:t>
            </a:r>
          </a:p>
        </p:txBody>
      </p:sp>
      <p:sp>
        <p:nvSpPr>
          <p:cNvPr id="3" name="Um experimento de criação&#10;de dissertação e artigo">
            <a:extLst xmlns:a="http://schemas.openxmlformats.org/drawingml/2006/main">
              <a:ext uri="{FF2B5EF4-FFF2-40B4-BE49-F238E27FC236}">
                <a16:creationId xmlns:a16="http://schemas.microsoft.com/office/drawing/2014/main" id="{0858D53A-FB27-445A-9B15-547C23B8C1AE}"/>
              </a:ext>
            </a:extLst>
          </p:cNvPr>
          <p:cNvSpPr>
            <a:spLocks xmlns:a="http://schemas.openxmlformats.org/drawingml/2006/main" noGrp="1"/>
          </p:cNvSpPr>
          <p:nvPr/>
        </p:nvSpPr>
        <p:spPr>
          <a:xfrm xmlns:a="http://schemas.openxmlformats.org/drawingml/2006/main">
            <a:off x="685800" y="2190750"/>
            <a:ext cx="100012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4500" b="1">
                <a:solidFill>
                  <a:srgbClr val="FFFFFF"/>
                </a:solidFill>
                <a:latin typeface="Arial"/>
                <a:ea typeface="Arial"/>
                <a:cs typeface="Arial"/>
              </a:defRPr>
            </a:pPr>
            <a:r>
              <a:rPr sz="4500" b="1">
                <a:solidFill>
                  <a:srgbClr val="FFFFFF"/>
                </a:solidFill>
                <a:latin typeface="Arial"/>
                <a:ea typeface="Arial"/>
                <a:cs typeface="Arial"/>
              </a:rPr>
              <a:t>Um experimento de criação</a:t>
            </a:r>
          </a:p>
          <a:p xmlns:a="http://schemas.openxmlformats.org/drawingml/2006/main">
            <a:pPr>
              <a:defRPr sz="4500" b="1">
                <a:solidFill>
                  <a:srgbClr val="FFFFFF"/>
                </a:solidFill>
                <a:latin typeface="Arial"/>
                <a:ea typeface="Arial"/>
                <a:cs typeface="Arial"/>
              </a:defRPr>
            </a:pPr>
            <a:r>
              <a:rPr sz="4500" b="1">
                <a:solidFill>
                  <a:srgbClr val="FFFFFF"/>
                </a:solidFill>
                <a:latin typeface="Arial"/>
                <a:ea typeface="Arial"/>
                <a:cs typeface="Arial"/>
              </a:rPr>
              <a:t>de dissertação e artigo</a:t>
            </a:r>
          </a:p>
        </p:txBody>
      </p:sp>
      <p:sp>
        <p:nvSpPr>
          <p:cNvPr id="4" name="Codex na execução&#10;Gemini em dois ciclos de revisão">
            <a:extLst xmlns:a="http://schemas.openxmlformats.org/drawingml/2006/main">
              <a:ext uri="{FF2B5EF4-FFF2-40B4-BE49-F238E27FC236}">
                <a16:creationId xmlns:a16="http://schemas.microsoft.com/office/drawing/2014/main" id="{C05A65A2-7C3A-4481-9D4B-753538BF5BAB}"/>
              </a:ext>
            </a:extLst>
          </p:cNvPr>
          <p:cNvSpPr>
            <a:spLocks xmlns:a="http://schemas.openxmlformats.org/drawingml/2006/main" noGrp="1"/>
          </p:cNvSpPr>
          <p:nvPr/>
        </p:nvSpPr>
        <p:spPr>
          <a:xfrm xmlns:a="http://schemas.openxmlformats.org/drawingml/2006/main">
            <a:off x="714375" y="4600575"/>
            <a:ext cx="9239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C5DDE3"/>
                </a:solidFill>
                <a:latin typeface="Arial"/>
                <a:ea typeface="Arial"/>
                <a:cs typeface="Arial"/>
              </a:defRPr>
            </a:pPr>
            <a:r>
              <a:rPr sz="2250" b="0">
                <a:solidFill>
                  <a:srgbClr val="C5DDE3"/>
                </a:solidFill>
                <a:latin typeface="Arial"/>
                <a:ea typeface="Arial"/>
                <a:cs typeface="Arial"/>
              </a:rPr>
              <a:t>Codex na execução</a:t>
            </a:r>
          </a:p>
          <a:p xmlns:a="http://schemas.openxmlformats.org/drawingml/2006/main">
            <a:pPr>
              <a:defRPr sz="2250" b="0">
                <a:solidFill>
                  <a:srgbClr val="C5DDE3"/>
                </a:solidFill>
                <a:latin typeface="Arial"/>
                <a:ea typeface="Arial"/>
                <a:cs typeface="Arial"/>
              </a:defRPr>
            </a:pPr>
            <a:r>
              <a:rPr sz="2250" b="0">
                <a:solidFill>
                  <a:srgbClr val="C5DDE3"/>
                </a:solidFill>
                <a:latin typeface="Arial"/>
                <a:ea typeface="Arial"/>
                <a:cs typeface="Arial"/>
              </a:rPr>
              <a:t>Gemini em dois ciclos de revisão</a:t>
            </a:r>
          </a:p>
        </p:txBody>
      </p:sp>
    </p:spTree>
    <p:extLst>
      <p:ext uri="{BB962C8B-B14F-4D97-AF65-F5344CB8AC3E}">
        <p14:creationId xmlns:p14="http://schemas.microsoft.com/office/powerpoint/2010/main" val="1706310719"/>
      </p:ext>
    </p:extLst>
  </p:cSld>
</p:sld>
</file>

<file path=ppt/slides/slide2.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8" name="A pergunta do experimento">
            <a:extLst xmlns:a="http://schemas.openxmlformats.org/drawingml/2006/main">
              <a:ext uri="{FF2B5EF4-FFF2-40B4-BE49-F238E27FC236}">
                <a16:creationId xmlns:a16="http://schemas.microsoft.com/office/drawing/2014/main" id="{0A4AE8D7-D966-4956-82C9-BE397633EE67}"/>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A pergunta do experimento</a:t>
            </a:r>
          </a:p>
        </p:txBody>
      </p:sp>
      <p:sp>
        <p:nvSpPr>
          <p:cNvPr id="2" name="2 / 21">
            <a:extLst xmlns:a="http://schemas.openxmlformats.org/drawingml/2006/main">
              <a:ext uri="{FF2B5EF4-FFF2-40B4-BE49-F238E27FC236}">
                <a16:creationId xmlns:a16="http://schemas.microsoft.com/office/drawing/2014/main" id="{0737B2C0-4A83-488C-A8F9-A630A876C106}"/>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2 / 21</a:t>
            </a:r>
          </a:p>
        </p:txBody>
      </p:sp>
      <p:sp>
        <p:nvSpPr>
          <p:cNvPr id="3" name="O que esperamos de um pesquisador quando parte da pesqu">
            <a:extLst xmlns:a="http://schemas.openxmlformats.org/drawingml/2006/main">
              <a:ext uri="{FF2B5EF4-FFF2-40B4-BE49-F238E27FC236}">
                <a16:creationId xmlns:a16="http://schemas.microsoft.com/office/drawing/2014/main" id="{30096E9E-57E1-445A-923E-28CC1110636D}"/>
              </a:ext>
            </a:extLst>
          </p:cNvPr>
          <p:cNvSpPr>
            <a:spLocks xmlns:a="http://schemas.openxmlformats.org/drawingml/2006/main" noGrp="1"/>
          </p:cNvSpPr>
          <p:nvPr/>
        </p:nvSpPr>
        <p:spPr>
          <a:xfrm xmlns:a="http://schemas.openxmlformats.org/drawingml/2006/main">
            <a:off x="685800" y="1666875"/>
            <a:ext cx="10763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000" b="1">
                <a:solidFill>
                  <a:srgbClr val="17324D"/>
                </a:solidFill>
                <a:latin typeface="Arial"/>
                <a:ea typeface="Arial"/>
                <a:cs typeface="Arial"/>
              </a:defRPr>
            </a:pPr>
            <a:r>
              <a:rPr sz="3000" b="1">
                <a:solidFill>
                  <a:srgbClr val="17324D"/>
                </a:solidFill>
                <a:latin typeface="Arial"/>
                <a:ea typeface="Arial"/>
                <a:cs typeface="Arial"/>
              </a:rPr>
              <a:t>O que esperamos de um pesquisador quando parte da pesquisa pode ser delegada a agentes?</a:t>
            </a:r>
          </a:p>
        </p:txBody>
      </p:sp>
      <p:sp>
        <p:nvSpPr>
          <p:cNvPr id="4" name="Produto científico">
            <a:extLst xmlns:a="http://schemas.openxmlformats.org/drawingml/2006/main">
              <a:ext uri="{FF2B5EF4-FFF2-40B4-BE49-F238E27FC236}">
                <a16:creationId xmlns:a16="http://schemas.microsoft.com/office/drawing/2014/main" id="{6447EA7C-2685-456D-8C52-32757F030B11}"/>
              </a:ext>
            </a:extLst>
          </p:cNvPr>
          <p:cNvSpPr>
            <a:spLocks xmlns:a="http://schemas.openxmlformats.org/drawingml/2006/main" noGrp="1"/>
          </p:cNvSpPr>
          <p:nvPr/>
        </p:nvSpPr>
        <p:spPr>
          <a:xfrm xmlns:a="http://schemas.openxmlformats.org/drawingml/2006/main">
            <a:off x="685800" y="3429000"/>
            <a:ext cx="4953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Produto científico</a:t>
            </a:r>
          </a:p>
        </p:txBody>
      </p:sp>
      <p:sp>
        <p:nvSpPr>
          <p:cNvPr id="5" name="A pergunta importa?&#10;Os resultados se sustentam?">
            <a:extLst xmlns:a="http://schemas.openxmlformats.org/drawingml/2006/main">
              <a:ext uri="{FF2B5EF4-FFF2-40B4-BE49-F238E27FC236}">
                <a16:creationId xmlns:a16="http://schemas.microsoft.com/office/drawing/2014/main" id="{CFE50A41-95E7-4074-861C-94F69523D615}"/>
              </a:ext>
            </a:extLst>
          </p:cNvPr>
          <p:cNvSpPr>
            <a:spLocks xmlns:a="http://schemas.openxmlformats.org/drawingml/2006/main" noGrp="1"/>
          </p:cNvSpPr>
          <p:nvPr/>
        </p:nvSpPr>
        <p:spPr>
          <a:xfrm xmlns:a="http://schemas.openxmlformats.org/drawingml/2006/main">
            <a:off x="685800" y="4133850"/>
            <a:ext cx="4953000" cy="261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A pergunta importa?</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Os resultados se sustentam?</a:t>
            </a:r>
          </a:p>
        </p:txBody>
      </p:sp>
      <p:sp>
        <p:nvSpPr>
          <p:cNvPr id="6" name="Formação da pessoa">
            <a:extLst xmlns:a="http://schemas.openxmlformats.org/drawingml/2006/main">
              <a:ext uri="{FF2B5EF4-FFF2-40B4-BE49-F238E27FC236}">
                <a16:creationId xmlns:a16="http://schemas.microsoft.com/office/drawing/2014/main" id="{0859FCD8-FFB5-4F6C-8E59-F0D3EBA79EBE}"/>
              </a:ext>
            </a:extLst>
          </p:cNvPr>
          <p:cNvSpPr>
            <a:spLocks xmlns:a="http://schemas.openxmlformats.org/drawingml/2006/main" noGrp="1"/>
          </p:cNvSpPr>
          <p:nvPr/>
        </p:nvSpPr>
        <p:spPr>
          <a:xfrm xmlns:a="http://schemas.openxmlformats.org/drawingml/2006/main">
            <a:off x="6572250" y="3429000"/>
            <a:ext cx="4953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Formação da pessoa</a:t>
            </a:r>
          </a:p>
        </p:txBody>
      </p:sp>
      <p:sp>
        <p:nvSpPr>
          <p:cNvPr id="7" name="Ela compreende o trabalho?&#10;Consegue decidir o próximo p">
            <a:extLst xmlns:a="http://schemas.openxmlformats.org/drawingml/2006/main">
              <a:ext uri="{FF2B5EF4-FFF2-40B4-BE49-F238E27FC236}">
                <a16:creationId xmlns:a16="http://schemas.microsoft.com/office/drawing/2014/main" id="{644F08D4-D26A-498A-81EE-69CD6AB5DBFD}"/>
              </a:ext>
            </a:extLst>
          </p:cNvPr>
          <p:cNvSpPr>
            <a:spLocks xmlns:a="http://schemas.openxmlformats.org/drawingml/2006/main" noGrp="1"/>
          </p:cNvSpPr>
          <p:nvPr/>
        </p:nvSpPr>
        <p:spPr>
          <a:xfrm xmlns:a="http://schemas.openxmlformats.org/drawingml/2006/main">
            <a:off x="6572250" y="4133850"/>
            <a:ext cx="4953000" cy="261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Ela compreende o trabalho?</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Consegue decidir o próximo passo?</a:t>
            </a:r>
          </a:p>
        </p:txBody>
      </p:sp>
    </p:spTree>
    <p:extLst>
      <p:ext uri="{BB962C8B-B14F-4D97-AF65-F5344CB8AC3E}">
        <p14:creationId xmlns:p14="http://schemas.microsoft.com/office/powerpoint/2010/main" val="2124327294"/>
      </p:ext>
    </p:extLst>
  </p:cSld>
</p:sld>
</file>

<file path=ppt/slides/slide3.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6" name="O ponto de partida">
            <a:extLst xmlns:a="http://schemas.openxmlformats.org/drawingml/2006/main">
              <a:ext uri="{FF2B5EF4-FFF2-40B4-BE49-F238E27FC236}">
                <a16:creationId xmlns:a16="http://schemas.microsoft.com/office/drawing/2014/main" id="{FFA89323-2158-449F-AAD7-BED9E47345B4}"/>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O ponto de partida</a:t>
            </a:r>
          </a:p>
        </p:txBody>
      </p:sp>
      <p:sp>
        <p:nvSpPr>
          <p:cNvPr id="2" name="3 / 21">
            <a:extLst xmlns:a="http://schemas.openxmlformats.org/drawingml/2006/main">
              <a:ext uri="{FF2B5EF4-FFF2-40B4-BE49-F238E27FC236}">
                <a16:creationId xmlns:a16="http://schemas.microsoft.com/office/drawing/2014/main" id="{B0FDF1DE-B147-413F-B3A4-3F6D3638857B}"/>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3 / 21</a:t>
            </a:r>
          </a:p>
        </p:txBody>
      </p:sp>
      <p:sp>
        <p:nvSpPr>
          <p:cNvPr id="3" name="Um trabalho de graduação&#10;Uma intenção ampla&#10;Nenhuma hip">
            <a:extLst xmlns:a="http://schemas.openxmlformats.org/drawingml/2006/main">
              <a:ext uri="{FF2B5EF4-FFF2-40B4-BE49-F238E27FC236}">
                <a16:creationId xmlns:a16="http://schemas.microsoft.com/office/drawing/2014/main" id="{2D258153-95CD-42BD-8BA2-7B10E36D0E53}"/>
              </a:ext>
            </a:extLst>
          </p:cNvPr>
          <p:cNvSpPr>
            <a:spLocks xmlns:a="http://schemas.openxmlformats.org/drawingml/2006/main" noGrp="1"/>
          </p:cNvSpPr>
          <p:nvPr/>
        </p:nvSpPr>
        <p:spPr>
          <a:xfrm xmlns:a="http://schemas.openxmlformats.org/drawingml/2006/main">
            <a:off x="685800" y="2095500"/>
            <a:ext cx="65722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700" b="1">
                <a:solidFill>
                  <a:srgbClr val="17324D"/>
                </a:solidFill>
                <a:latin typeface="Arial"/>
                <a:ea typeface="Arial"/>
                <a:cs typeface="Arial"/>
              </a:defRPr>
            </a:pPr>
            <a:r>
              <a:rPr sz="2700" b="1">
                <a:solidFill>
                  <a:srgbClr val="17324D"/>
                </a:solidFill>
                <a:latin typeface="Arial"/>
                <a:ea typeface="Arial"/>
                <a:cs typeface="Arial"/>
              </a:rPr>
              <a:t>Um trabalho de graduação</a:t>
            </a:r>
          </a:p>
          <a:p xmlns:a="http://schemas.openxmlformats.org/drawingml/2006/main">
            <a:pPr>
              <a:defRPr sz="2700" b="1">
                <a:solidFill>
                  <a:srgbClr val="17324D"/>
                </a:solidFill>
                <a:latin typeface="Arial"/>
                <a:ea typeface="Arial"/>
                <a:cs typeface="Arial"/>
              </a:defRPr>
            </a:pPr>
            <a:r>
              <a:rPr sz="2700" b="1">
                <a:solidFill>
                  <a:srgbClr val="17324D"/>
                </a:solidFill>
                <a:latin typeface="Arial"/>
                <a:ea typeface="Arial"/>
                <a:cs typeface="Arial"/>
              </a:rPr>
              <a:t>Uma intenção ampla</a:t>
            </a:r>
          </a:p>
          <a:p xmlns:a="http://schemas.openxmlformats.org/drawingml/2006/main">
            <a:pPr>
              <a:defRPr sz="2700" b="1">
                <a:solidFill>
                  <a:srgbClr val="17324D"/>
                </a:solidFill>
                <a:latin typeface="Arial"/>
                <a:ea typeface="Arial"/>
                <a:cs typeface="Arial"/>
              </a:defRPr>
            </a:pPr>
            <a:r>
              <a:rPr sz="2700" b="1">
                <a:solidFill>
                  <a:srgbClr val="17324D"/>
                </a:solidFill>
                <a:latin typeface="Arial"/>
                <a:ea typeface="Arial"/>
                <a:cs typeface="Arial"/>
              </a:rPr>
              <a:t>Nenhuma hipótese nova fornecida no início</a:t>
            </a:r>
          </a:p>
        </p:txBody>
      </p:sp>
      <p:sp>
        <p:nvSpPr>
          <p:cNvPr id="4" name="Pedido: propor uma continuação de mestrado, implementar">
            <a:extLst xmlns:a="http://schemas.openxmlformats.org/drawingml/2006/main">
              <a:ext uri="{FF2B5EF4-FFF2-40B4-BE49-F238E27FC236}">
                <a16:creationId xmlns:a16="http://schemas.microsoft.com/office/drawing/2014/main" id="{7288EB51-F44B-40AB-A322-5BDD5F4F8499}"/>
              </a:ext>
            </a:extLst>
          </p:cNvPr>
          <p:cNvSpPr>
            <a:spLocks xmlns:a="http://schemas.openxmlformats.org/drawingml/2006/main" noGrp="1"/>
          </p:cNvSpPr>
          <p:nvPr/>
        </p:nvSpPr>
        <p:spPr>
          <a:xfrm xmlns:a="http://schemas.openxmlformats.org/drawingml/2006/main">
            <a:off x="685800" y="4714875"/>
            <a:ext cx="6477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Pedido: propor uma continuação de mestrado, implementar e validar.</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7c418fe0b15a4e0f"/>
          <a:stretch xmlns:a="http://schemas.openxmlformats.org/drawingml/2006/main"/>
        </p:blipFill>
        <p:spPr>
          <a:xfrm xmlns:a="http://schemas.openxmlformats.org/drawingml/2006/main">
            <a:off x="8247629" y="1524000"/>
            <a:ext cx="3030991" cy="4286250"/>
          </a:xfrm>
          <a:prstGeom xmlns:a="http://schemas.openxmlformats.org/drawingml/2006/main" prst="rect">
            <a:avLst/>
          </a:prstGeom>
        </p:spPr>
      </p:pic>
    </p:spTree>
    <p:extLst>
      <p:ext uri="{BB962C8B-B14F-4D97-AF65-F5344CB8AC3E}">
        <p14:creationId xmlns:p14="http://schemas.microsoft.com/office/powerpoint/2010/main" val="1779639265"/>
      </p:ext>
    </p:extLst>
  </p:cSld>
</p:sld>
</file>

<file path=ppt/slides/slide4.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9" name="Quem tomou quais decisões">
            <a:extLst xmlns:a="http://schemas.openxmlformats.org/drawingml/2006/main">
              <a:ext uri="{FF2B5EF4-FFF2-40B4-BE49-F238E27FC236}">
                <a16:creationId xmlns:a16="http://schemas.microsoft.com/office/drawing/2014/main" id="{BAAED1D3-6491-44F3-A185-37F6E021BD46}"/>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Quem tomou quais decisões</a:t>
            </a:r>
          </a:p>
        </p:txBody>
      </p:sp>
      <p:sp>
        <p:nvSpPr>
          <p:cNvPr id="2" name="4 / 21">
            <a:extLst xmlns:a="http://schemas.openxmlformats.org/drawingml/2006/main">
              <a:ext uri="{FF2B5EF4-FFF2-40B4-BE49-F238E27FC236}">
                <a16:creationId xmlns:a16="http://schemas.microsoft.com/office/drawing/2014/main" id="{92EF4F4B-0ED5-4441-9251-880CA500CF78}"/>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4 / 21</a:t>
            </a:r>
          </a:p>
        </p:txBody>
      </p:sp>
      <p:sp>
        <p:nvSpPr>
          <p:cNvPr id="3" name="Usuário">
            <a:extLst xmlns:a="http://schemas.openxmlformats.org/drawingml/2006/main">
              <a:ext uri="{FF2B5EF4-FFF2-40B4-BE49-F238E27FC236}">
                <a16:creationId xmlns:a16="http://schemas.microsoft.com/office/drawing/2014/main" id="{736AA912-B3B1-49AF-BED7-36C0855781D0}"/>
              </a:ext>
            </a:extLst>
          </p:cNvPr>
          <p:cNvSpPr>
            <a:spLocks xmlns:a="http://schemas.openxmlformats.org/drawingml/2006/main" noGrp="1"/>
          </p:cNvSpPr>
          <p:nvPr/>
        </p:nvSpPr>
        <p:spPr>
          <a:xfrm xmlns:a="http://schemas.openxmlformats.org/drawingml/2006/main">
            <a:off x="685800" y="1905000"/>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Usuário</a:t>
            </a:r>
          </a:p>
        </p:txBody>
      </p:sp>
      <p:sp>
        <p:nvSpPr>
          <p:cNvPr id="4" name="Definiu a intenção, acompanhou recursos e encaminhou fe">
            <a:extLst xmlns:a="http://schemas.openxmlformats.org/drawingml/2006/main">
              <a:ext uri="{FF2B5EF4-FFF2-40B4-BE49-F238E27FC236}">
                <a16:creationId xmlns:a16="http://schemas.microsoft.com/office/drawing/2014/main" id="{FDE70155-4C63-4399-AB97-B110AE70A2C6}"/>
              </a:ext>
            </a:extLst>
          </p:cNvPr>
          <p:cNvSpPr>
            <a:spLocks xmlns:a="http://schemas.openxmlformats.org/drawingml/2006/main" noGrp="1"/>
          </p:cNvSpPr>
          <p:nvPr/>
        </p:nvSpPr>
        <p:spPr>
          <a:xfrm xmlns:a="http://schemas.openxmlformats.org/drawingml/2006/main">
            <a:off x="3619500" y="1905000"/>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Definiu a intenção, acompanhou recursos e encaminhou feedback.</a:t>
            </a:r>
          </a:p>
        </p:txBody>
      </p:sp>
      <p:sp>
        <p:nvSpPr>
          <p:cNvPr id="5" name="Codex (Astra)">
            <a:extLst xmlns:a="http://schemas.openxmlformats.org/drawingml/2006/main">
              <a:ext uri="{FF2B5EF4-FFF2-40B4-BE49-F238E27FC236}">
                <a16:creationId xmlns:a16="http://schemas.microsoft.com/office/drawing/2014/main" id="{98D941DD-A9C7-47E2-A88C-7E49E23514FB}"/>
              </a:ext>
            </a:extLst>
          </p:cNvPr>
          <p:cNvSpPr>
            <a:spLocks xmlns:a="http://schemas.openxmlformats.org/drawingml/2006/main" noGrp="1"/>
          </p:cNvSpPr>
          <p:nvPr/>
        </p:nvSpPr>
        <p:spPr>
          <a:xfrm xmlns:a="http://schemas.openxmlformats.org/drawingml/2006/main">
            <a:off x="685800" y="3000375"/>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Codex (Astra)</a:t>
            </a:r>
          </a:p>
        </p:txBody>
      </p:sp>
      <p:sp>
        <p:nvSpPr>
          <p:cNvPr id="6" name="Formulou o recorte, implementou, testou e redigiu.">
            <a:extLst xmlns:a="http://schemas.openxmlformats.org/drawingml/2006/main">
              <a:ext uri="{FF2B5EF4-FFF2-40B4-BE49-F238E27FC236}">
                <a16:creationId xmlns:a16="http://schemas.microsoft.com/office/drawing/2014/main" id="{EF3476CE-6354-45D2-9641-4973CC2D0B04}"/>
              </a:ext>
            </a:extLst>
          </p:cNvPr>
          <p:cNvSpPr>
            <a:spLocks xmlns:a="http://schemas.openxmlformats.org/drawingml/2006/main" noGrp="1"/>
          </p:cNvSpPr>
          <p:nvPr/>
        </p:nvSpPr>
        <p:spPr>
          <a:xfrm xmlns:a="http://schemas.openxmlformats.org/drawingml/2006/main">
            <a:off x="3619500" y="3000375"/>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Formulou o recorte, implementou, testou e redigiu.</a:t>
            </a:r>
          </a:p>
        </p:txBody>
      </p:sp>
      <p:sp>
        <p:nvSpPr>
          <p:cNvPr id="7" name="Gemini">
            <a:extLst xmlns:a="http://schemas.openxmlformats.org/drawingml/2006/main">
              <a:ext uri="{FF2B5EF4-FFF2-40B4-BE49-F238E27FC236}">
                <a16:creationId xmlns:a16="http://schemas.microsoft.com/office/drawing/2014/main" id="{AC98FD3E-8378-4FC2-BBD0-8647F9061B09}"/>
              </a:ext>
            </a:extLst>
          </p:cNvPr>
          <p:cNvSpPr>
            <a:spLocks xmlns:a="http://schemas.openxmlformats.org/drawingml/2006/main" noGrp="1"/>
          </p:cNvSpPr>
          <p:nvPr/>
        </p:nvSpPr>
        <p:spPr>
          <a:xfrm xmlns:a="http://schemas.openxmlformats.org/drawingml/2006/main">
            <a:off x="685800" y="4095750"/>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Gemini</a:t>
            </a:r>
          </a:p>
        </p:txBody>
      </p:sp>
      <p:sp>
        <p:nvSpPr>
          <p:cNvPr id="8" name="Revisou a dissertação e, depois, o manuscrito.">
            <a:extLst xmlns:a="http://schemas.openxmlformats.org/drawingml/2006/main">
              <a:ext uri="{FF2B5EF4-FFF2-40B4-BE49-F238E27FC236}">
                <a16:creationId xmlns:a16="http://schemas.microsoft.com/office/drawing/2014/main" id="{1C3C666F-2101-4DA4-82D5-44B4F3A133FC}"/>
              </a:ext>
            </a:extLst>
          </p:cNvPr>
          <p:cNvSpPr>
            <a:spLocks xmlns:a="http://schemas.openxmlformats.org/drawingml/2006/main" noGrp="1"/>
          </p:cNvSpPr>
          <p:nvPr/>
        </p:nvSpPr>
        <p:spPr>
          <a:xfrm xmlns:a="http://schemas.openxmlformats.org/drawingml/2006/main">
            <a:off x="3619500" y="4095750"/>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Revisou a dissertação e, depois, o manuscrito.</a:t>
            </a:r>
          </a:p>
        </p:txBody>
      </p:sp>
    </p:spTree>
    <p:extLst>
      <p:ext uri="{BB962C8B-B14F-4D97-AF65-F5344CB8AC3E}">
        <p14:creationId xmlns:p14="http://schemas.microsoft.com/office/powerpoint/2010/main" val="174234429"/>
      </p:ext>
    </p:extLst>
  </p:cSld>
</p:sld>
</file>

<file path=ppt/slides/slide5.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4" name="Cronologia do experimento">
            <a:extLst xmlns:a="http://schemas.openxmlformats.org/drawingml/2006/main">
              <a:ext uri="{FF2B5EF4-FFF2-40B4-BE49-F238E27FC236}">
                <a16:creationId xmlns:a16="http://schemas.microsoft.com/office/drawing/2014/main" id="{780246EE-3F30-493B-BF8E-B8CCAD3852C3}"/>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Cronologia do experimento</a:t>
            </a:r>
          </a:p>
        </p:txBody>
      </p:sp>
      <p:sp>
        <p:nvSpPr>
          <p:cNvPr id="2" name="5 / 21">
            <a:extLst xmlns:a="http://schemas.openxmlformats.org/drawingml/2006/main">
              <a:ext uri="{FF2B5EF4-FFF2-40B4-BE49-F238E27FC236}">
                <a16:creationId xmlns:a16="http://schemas.microsoft.com/office/drawing/2014/main" id="{4D3E801F-4289-4965-B7F0-CBFC6AD0B87D}"/>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5 / 21</a:t>
            </a:r>
          </a:p>
        </p:txBody>
      </p:sp>
      <p:graphicFrame>
        <p:nvGraphicFramePr>
          <p:cNvPr id="6" name=""/>
          <p:cNvGraphicFramePr/>
          <p:nvPr/>
        </p:nvGraphicFramePr>
        <p:xfrm>
          <a:off xmlns:a="http://schemas.openxmlformats.org/drawingml/2006/main" x="685800" y="1695450"/>
          <a:ext xmlns:a="http://schemas.openxmlformats.org/drawingml/2006/main" cx="10820400" cy="3857625"/>
        </p:xfrm>
        <a:graphic xmlns:a="http://schemas.openxmlformats.org/drawingml/2006/main">
          <a:graphicData uri="http://schemas.openxmlformats.org/drawingml/2006/table">
            <a:tbl>
              <a:tblPr/>
              <a:tblGrid>
                <a:gridCol w="2952750"/>
                <a:gridCol w="7867650"/>
              </a:tblGrid>
              <a:tr h="642938">
                <a:tc>
                  <a:txBody>
                    <a:bodyPr lIns="133350" tIns="114300" rIns="133350" bIns="76200"/>
                    <a:lstStyle/>
                    <a:p>
                      <a:r>
                        <a:rPr sz="1950" b="1">
                          <a:solidFill>
                            <a:srgbClr val="FFFFFF"/>
                          </a:solidFill>
                          <a:latin typeface="Arial"/>
                          <a:ea typeface="Arial"/>
                          <a:cs typeface="Arial"/>
                        </a:rPr>
                        <a:t>Quando</a:t>
                      </a:r>
                    </a:p>
                  </a:txBody>
                  <a:tcPr marL="91440" marR="91440" marT="45720" marB="45720">
                    <a:solidFill>
                      <a:srgbClr val="17324D"/>
                    </a:solidFill>
                  </a:tcPr>
                </a:tc>
                <a:tc>
                  <a:txBody>
                    <a:bodyPr lIns="133350" tIns="114300" rIns="133350" bIns="76200"/>
                    <a:lstStyle/>
                    <a:p>
                      <a:r>
                        <a:rPr sz="1950" b="1">
                          <a:solidFill>
                            <a:srgbClr val="FFFFFF"/>
                          </a:solidFill>
                          <a:latin typeface="Arial"/>
                          <a:ea typeface="Arial"/>
                          <a:cs typeface="Arial"/>
                        </a:rPr>
                        <a:t>Marco</a:t>
                      </a:r>
                    </a:p>
                  </a:txBody>
                  <a:tcPr marL="91440" marR="91440" marT="45720" marB="45720">
                    <a:solidFill>
                      <a:srgbClr val="17324D"/>
                    </a:solidFill>
                  </a:tcPr>
                </a:tc>
              </a:tr>
              <a:tr h="642938">
                <a:tc>
                  <a:txBody>
                    <a:bodyPr lIns="133350" tIns="114300" rIns="133350" bIns="76200"/>
                    <a:lstStyle/>
                    <a:p>
                      <a:r>
                        <a:rPr sz="1950" b="0">
                          <a:solidFill>
                            <a:srgbClr val="253643"/>
                          </a:solidFill>
                          <a:latin typeface="Arial"/>
                          <a:ea typeface="Arial"/>
                          <a:cs typeface="Arial"/>
                        </a:rPr>
                        <a:t>10 set.</a:t>
                      </a:r>
                    </a:p>
                  </a:txBody>
                  <a:tcPr marL="91440" marR="91440" marT="45720" marB="45720">
                    <a:solidFill>
                      <a:srgbClr val="F7F5F0"/>
                    </a:solidFill>
                  </a:tcPr>
                </a:tc>
                <a:tc>
                  <a:txBody>
                    <a:bodyPr lIns="133350" tIns="114300" rIns="133350" bIns="76200"/>
                    <a:lstStyle/>
                    <a:p>
                      <a:r>
                        <a:rPr sz="1950" b="0">
                          <a:solidFill>
                            <a:srgbClr val="253643"/>
                          </a:solidFill>
                          <a:latin typeface="Arial"/>
                          <a:ea typeface="Arial"/>
                          <a:cs typeface="Arial"/>
                        </a:rPr>
                        <a:t>TG, proposta e início do goal</a:t>
                      </a:r>
                    </a:p>
                  </a:txBody>
                  <a:tcPr marL="91440" marR="91440" marT="45720" marB="45720">
                    <a:solidFill>
                      <a:srgbClr val="F7F5F0"/>
                    </a:solidFill>
                  </a:tcPr>
                </a:tc>
              </a:tr>
              <a:tr h="642938">
                <a:tc>
                  <a:txBody>
                    <a:bodyPr lIns="133350" tIns="114300" rIns="133350" bIns="76200"/>
                    <a:lstStyle/>
                    <a:p>
                      <a:r>
                        <a:rPr sz="1950" b="0">
                          <a:solidFill>
                            <a:srgbClr val="253643"/>
                          </a:solidFill>
                          <a:latin typeface="Arial"/>
                          <a:ea typeface="Arial"/>
                          <a:cs typeface="Arial"/>
                        </a:rPr>
                        <a:t>11 set.</a:t>
                      </a:r>
                    </a:p>
                  </a:txBody>
                  <a:tcPr marL="91440" marR="91440" marT="45720" marB="45720">
                    <a:solidFill>
                      <a:srgbClr val="F7F5F0"/>
                    </a:solidFill>
                  </a:tcPr>
                </a:tc>
                <a:tc>
                  <a:txBody>
                    <a:bodyPr lIns="133350" tIns="114300" rIns="133350" bIns="76200"/>
                    <a:lstStyle/>
                    <a:p>
                      <a:r>
                        <a:rPr sz="1950" b="0">
                          <a:solidFill>
                            <a:srgbClr val="253643"/>
                          </a:solidFill>
                          <a:latin typeface="Arial"/>
                          <a:ea typeface="Arial"/>
                          <a:cs typeface="Arial"/>
                        </a:rPr>
                        <a:t>Simulações, resultados parciais e pausa</a:t>
                      </a:r>
                    </a:p>
                  </a:txBody>
                  <a:tcPr marL="91440" marR="91440" marT="45720" marB="45720">
                    <a:solidFill>
                      <a:srgbClr val="F7F5F0"/>
                    </a:solidFill>
                  </a:tcPr>
                </a:tc>
              </a:tr>
              <a:tr h="642938">
                <a:tc>
                  <a:txBody>
                    <a:bodyPr lIns="133350" tIns="114300" rIns="133350" bIns="76200"/>
                    <a:lstStyle/>
                    <a:p>
                      <a:r>
                        <a:rPr sz="1950" b="0">
                          <a:solidFill>
                            <a:srgbClr val="253643"/>
                          </a:solidFill>
                          <a:latin typeface="Arial"/>
                          <a:ea typeface="Arial"/>
                          <a:cs typeface="Arial"/>
                        </a:rPr>
                        <a:t>12 set.</a:t>
                      </a:r>
                    </a:p>
                  </a:txBody>
                  <a:tcPr marL="91440" marR="91440" marT="45720" marB="45720">
                    <a:solidFill>
                      <a:srgbClr val="F7F5F0"/>
                    </a:solidFill>
                  </a:tcPr>
                </a:tc>
                <a:tc>
                  <a:txBody>
                    <a:bodyPr lIns="133350" tIns="114300" rIns="133350" bIns="76200"/>
                    <a:lstStyle/>
                    <a:p>
                      <a:r>
                        <a:rPr sz="1950" b="0">
                          <a:solidFill>
                            <a:srgbClr val="253643"/>
                          </a:solidFill>
                          <a:latin typeface="Arial"/>
                          <a:ea typeface="Arial"/>
                          <a:cs typeface="Arial"/>
                        </a:rPr>
                        <a:t>Retomada e parecer sobre a dissertação</a:t>
                      </a:r>
                    </a:p>
                  </a:txBody>
                  <a:tcPr marL="91440" marR="91440" marT="45720" marB="45720">
                    <a:solidFill>
                      <a:srgbClr val="F7F5F0"/>
                    </a:solidFill>
                  </a:tcPr>
                </a:tc>
              </a:tr>
              <a:tr h="642938">
                <a:tc>
                  <a:txBody>
                    <a:bodyPr lIns="133350" tIns="114300" rIns="133350" bIns="76200"/>
                    <a:lstStyle/>
                    <a:p>
                      <a:r>
                        <a:rPr sz="1950" b="0">
                          <a:solidFill>
                            <a:srgbClr val="253643"/>
                          </a:solidFill>
                          <a:latin typeface="Arial"/>
                          <a:ea typeface="Arial"/>
                          <a:cs typeface="Arial"/>
                        </a:rPr>
                        <a:t>13 set., 01:04</a:t>
                      </a:r>
                    </a:p>
                  </a:txBody>
                  <a:tcPr marL="91440" marR="91440" marT="45720" marB="45720">
                    <a:solidFill>
                      <a:srgbClr val="F7F5F0"/>
                    </a:solidFill>
                  </a:tcPr>
                </a:tc>
                <a:tc>
                  <a:txBody>
                    <a:bodyPr lIns="133350" tIns="114300" rIns="133350" bIns="76200"/>
                    <a:lstStyle/>
                    <a:p>
                      <a:r>
                        <a:rPr sz="1950" b="0">
                          <a:solidFill>
                            <a:srgbClr val="253643"/>
                          </a:solidFill>
                          <a:latin typeface="Arial"/>
                          <a:ea typeface="Arial"/>
                          <a:cs typeface="Arial"/>
                        </a:rPr>
                        <a:t>Goal concluído e dissertação consolidada</a:t>
                      </a:r>
                    </a:p>
                  </a:txBody>
                  <a:tcPr marL="91440" marR="91440" marT="45720" marB="45720">
                    <a:solidFill>
                      <a:srgbClr val="F7F5F0"/>
                    </a:solidFill>
                  </a:tcPr>
                </a:tc>
              </a:tr>
              <a:tr h="642938">
                <a:tc>
                  <a:txBody>
                    <a:bodyPr lIns="133350" tIns="114300" rIns="133350" bIns="76200"/>
                    <a:lstStyle/>
                    <a:p>
                      <a:r>
                        <a:rPr sz="1950" b="0">
                          <a:solidFill>
                            <a:srgbClr val="253643"/>
                          </a:solidFill>
                          <a:latin typeface="Arial"/>
                          <a:ea typeface="Arial"/>
                          <a:cs typeface="Arial"/>
                        </a:rPr>
                        <a:t>13 set., 11:14</a:t>
                      </a:r>
                    </a:p>
                  </a:txBody>
                  <a:tcPr marL="91440" marR="91440" marT="45720" marB="45720">
                    <a:solidFill>
                      <a:srgbClr val="F7F5F0"/>
                    </a:solidFill>
                  </a:tcPr>
                </a:tc>
                <a:tc>
                  <a:txBody>
                    <a:bodyPr lIns="133350" tIns="114300" rIns="133350" bIns="76200"/>
                    <a:lstStyle/>
                    <a:p>
                      <a:r>
                        <a:rPr sz="1950" b="0">
                          <a:solidFill>
                            <a:srgbClr val="253643"/>
                          </a:solidFill>
                          <a:latin typeface="Arial"/>
                          <a:ea typeface="Arial"/>
                          <a:cs typeface="Arial"/>
                        </a:rPr>
                        <a:t>Manuscrito revisado após novo parecer</a:t>
                      </a:r>
                    </a:p>
                  </a:txBody>
                  <a:tcPr marL="91440" marR="91440" marT="45720" marB="45720">
                    <a:solidFill>
                      <a:srgbClr val="F7F5F0"/>
                    </a:solidFill>
                  </a:tcPr>
                </a:tc>
              </a:tr>
            </a:tbl>
          </a:graphicData>
        </a:graphic>
      </p:graphicFrame>
    </p:spTree>
    <p:extLst>
      <p:ext uri="{BB962C8B-B14F-4D97-AF65-F5344CB8AC3E}">
        <p14:creationId xmlns:p14="http://schemas.microsoft.com/office/powerpoint/2010/main" val="1257611860"/>
      </p:ext>
    </p:extLst>
  </p:cSld>
</p:sld>
</file>

<file path=ppt/slides/slide6.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10" name="Como o agente procurou novidade">
            <a:extLst xmlns:a="http://schemas.openxmlformats.org/drawingml/2006/main">
              <a:ext uri="{FF2B5EF4-FFF2-40B4-BE49-F238E27FC236}">
                <a16:creationId xmlns:a16="http://schemas.microsoft.com/office/drawing/2014/main" id="{B24555EC-12FD-4C01-A3D8-285D54AEE006}"/>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Como o agente procurou novidade</a:t>
            </a:r>
          </a:p>
        </p:txBody>
      </p:sp>
      <p:sp>
        <p:nvSpPr>
          <p:cNvPr id="2" name="6 / 21">
            <a:extLst xmlns:a="http://schemas.openxmlformats.org/drawingml/2006/main">
              <a:ext uri="{FF2B5EF4-FFF2-40B4-BE49-F238E27FC236}">
                <a16:creationId xmlns:a16="http://schemas.microsoft.com/office/drawing/2014/main" id="{7861FA56-FDBD-4E0C-9633-308E96E901D0}"/>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6 / 21</a:t>
            </a:r>
          </a:p>
        </p:txBody>
      </p:sp>
      <p:sp>
        <p:nvSpPr>
          <p:cNvPr id="3" name="Antecedentes">
            <a:extLst xmlns:a="http://schemas.openxmlformats.org/drawingml/2006/main">
              <a:ext uri="{FF2B5EF4-FFF2-40B4-BE49-F238E27FC236}">
                <a16:creationId xmlns:a16="http://schemas.microsoft.com/office/drawing/2014/main" id="{DF682C25-8202-47B5-A829-18A7EEFCE86D}"/>
              </a:ext>
            </a:extLst>
          </p:cNvPr>
          <p:cNvSpPr>
            <a:spLocks xmlns:a="http://schemas.openxmlformats.org/drawingml/2006/main" noGrp="1"/>
          </p:cNvSpPr>
          <p:nvPr/>
        </p:nvSpPr>
        <p:spPr>
          <a:xfrm xmlns:a="http://schemas.openxmlformats.org/drawingml/2006/main">
            <a:off x="685800" y="1905000"/>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Antecedentes</a:t>
            </a:r>
          </a:p>
        </p:txBody>
      </p:sp>
      <p:sp>
        <p:nvSpPr>
          <p:cNvPr id="4" name="Reconheceu resultados já publicados.">
            <a:extLst xmlns:a="http://schemas.openxmlformats.org/drawingml/2006/main">
              <a:ext uri="{FF2B5EF4-FFF2-40B4-BE49-F238E27FC236}">
                <a16:creationId xmlns:a16="http://schemas.microsoft.com/office/drawing/2014/main" id="{07EE605D-A510-4D56-8462-E55EA17EC896}"/>
              </a:ext>
            </a:extLst>
          </p:cNvPr>
          <p:cNvSpPr>
            <a:spLocks xmlns:a="http://schemas.openxmlformats.org/drawingml/2006/main" noGrp="1"/>
          </p:cNvSpPr>
          <p:nvPr/>
        </p:nvSpPr>
        <p:spPr>
          <a:xfrm xmlns:a="http://schemas.openxmlformats.org/drawingml/2006/main">
            <a:off x="3619500" y="1905000"/>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Reconheceu resultados já publicados.</a:t>
            </a:r>
          </a:p>
        </p:txBody>
      </p:sp>
      <p:sp>
        <p:nvSpPr>
          <p:cNvPr id="5" name="Alternativas">
            <a:extLst xmlns:a="http://schemas.openxmlformats.org/drawingml/2006/main">
              <a:ext uri="{FF2B5EF4-FFF2-40B4-BE49-F238E27FC236}">
                <a16:creationId xmlns:a16="http://schemas.microsoft.com/office/drawing/2014/main" id="{4C02B805-C8F9-4E16-BF3B-A29B43B8E161}"/>
              </a:ext>
            </a:extLst>
          </p:cNvPr>
          <p:cNvSpPr>
            <a:spLocks xmlns:a="http://schemas.openxmlformats.org/drawingml/2006/main" noGrp="1"/>
          </p:cNvSpPr>
          <p:nvPr/>
        </p:nvSpPr>
        <p:spPr>
          <a:xfrm xmlns:a="http://schemas.openxmlformats.org/drawingml/2006/main">
            <a:off x="685800" y="3000375"/>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Alternativas</a:t>
            </a:r>
          </a:p>
        </p:txBody>
      </p:sp>
      <p:sp>
        <p:nvSpPr>
          <p:cNvPr id="6" name="Comparou possíveis extensões teóricas e numéricas.">
            <a:extLst xmlns:a="http://schemas.openxmlformats.org/drawingml/2006/main">
              <a:ext uri="{FF2B5EF4-FFF2-40B4-BE49-F238E27FC236}">
                <a16:creationId xmlns:a16="http://schemas.microsoft.com/office/drawing/2014/main" id="{0D362700-BE4A-49D1-BD16-08C3B7877765}"/>
              </a:ext>
            </a:extLst>
          </p:cNvPr>
          <p:cNvSpPr>
            <a:spLocks xmlns:a="http://schemas.openxmlformats.org/drawingml/2006/main" noGrp="1"/>
          </p:cNvSpPr>
          <p:nvPr/>
        </p:nvSpPr>
        <p:spPr>
          <a:xfrm xmlns:a="http://schemas.openxmlformats.org/drawingml/2006/main">
            <a:off x="3619500" y="3000375"/>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Comparou possíveis extensões teóricas e numéricas.</a:t>
            </a:r>
          </a:p>
        </p:txBody>
      </p:sp>
      <p:sp>
        <p:nvSpPr>
          <p:cNvPr id="7" name="Recorte">
            <a:extLst xmlns:a="http://schemas.openxmlformats.org/drawingml/2006/main">
              <a:ext uri="{FF2B5EF4-FFF2-40B4-BE49-F238E27FC236}">
                <a16:creationId xmlns:a16="http://schemas.microsoft.com/office/drawing/2014/main" id="{D409BAC9-9C66-445D-A178-34D4F47443D8}"/>
              </a:ext>
            </a:extLst>
          </p:cNvPr>
          <p:cNvSpPr>
            <a:spLocks xmlns:a="http://schemas.openxmlformats.org/drawingml/2006/main" noGrp="1"/>
          </p:cNvSpPr>
          <p:nvPr/>
        </p:nvSpPr>
        <p:spPr>
          <a:xfrm xmlns:a="http://schemas.openxmlformats.org/drawingml/2006/main">
            <a:off x="685800" y="4095750"/>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Recorte</a:t>
            </a:r>
          </a:p>
        </p:txBody>
      </p:sp>
      <p:sp>
        <p:nvSpPr>
          <p:cNvPr id="8" name="Escolheu testar quando simplificações mudam uma análise">
            <a:extLst xmlns:a="http://schemas.openxmlformats.org/drawingml/2006/main">
              <a:ext uri="{FF2B5EF4-FFF2-40B4-BE49-F238E27FC236}">
                <a16:creationId xmlns:a16="http://schemas.microsoft.com/office/drawing/2014/main" id="{28E81D44-BFAE-4B2B-BE17-2186D855C791}"/>
              </a:ext>
            </a:extLst>
          </p:cNvPr>
          <p:cNvSpPr>
            <a:spLocks xmlns:a="http://schemas.openxmlformats.org/drawingml/2006/main" noGrp="1"/>
          </p:cNvSpPr>
          <p:nvPr/>
        </p:nvSpPr>
        <p:spPr>
          <a:xfrm xmlns:a="http://schemas.openxmlformats.org/drawingml/2006/main">
            <a:off x="3619500" y="4095750"/>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Escolheu testar quando simplificações mudam uma análise.</a:t>
            </a:r>
          </a:p>
        </p:txBody>
      </p:sp>
      <p:sp>
        <p:nvSpPr>
          <p:cNvPr id="9" name="Originalidade candidata, ainda sujeita a avaliação espe">
            <a:extLst xmlns:a="http://schemas.openxmlformats.org/drawingml/2006/main">
              <a:ext uri="{FF2B5EF4-FFF2-40B4-BE49-F238E27FC236}">
                <a16:creationId xmlns:a16="http://schemas.microsoft.com/office/drawing/2014/main" id="{C317C699-410A-4217-A571-07CD9F61546C}"/>
              </a:ext>
            </a:extLst>
          </p:cNvPr>
          <p:cNvSpPr>
            <a:spLocks xmlns:a="http://schemas.openxmlformats.org/drawingml/2006/main" noGrp="1"/>
          </p:cNvSpPr>
          <p:nvPr/>
        </p:nvSpPr>
        <p:spPr>
          <a:xfrm xmlns:a="http://schemas.openxmlformats.org/drawingml/2006/main">
            <a:off x="685800" y="573405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B35B32"/>
                </a:solidFill>
                <a:latin typeface="Arial"/>
                <a:ea typeface="Arial"/>
                <a:cs typeface="Arial"/>
              </a:defRPr>
            </a:pPr>
            <a:r>
              <a:rPr sz="1800" b="0">
                <a:solidFill>
                  <a:srgbClr val="B35B32"/>
                </a:solidFill>
                <a:latin typeface="Arial"/>
                <a:ea typeface="Arial"/>
                <a:cs typeface="Arial"/>
              </a:rPr>
              <a:t>Originalidade candidata, ainda sujeita a avaliação especializada.</a:t>
            </a:r>
          </a:p>
        </p:txBody>
      </p:sp>
    </p:spTree>
    <p:extLst>
      <p:ext uri="{BB962C8B-B14F-4D97-AF65-F5344CB8AC3E}">
        <p14:creationId xmlns:p14="http://schemas.microsoft.com/office/powerpoint/2010/main" val="1742262349"/>
      </p:ext>
    </p:extLst>
  </p:cSld>
</p:sld>
</file>

<file path=ppt/slides/slide7.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10" name="Execução orientada por etapas">
            <a:extLst xmlns:a="http://schemas.openxmlformats.org/drawingml/2006/main">
              <a:ext uri="{FF2B5EF4-FFF2-40B4-BE49-F238E27FC236}">
                <a16:creationId xmlns:a16="http://schemas.microsoft.com/office/drawing/2014/main" id="{A8E6E145-C98D-4D38-A5D1-383A2238B33E}"/>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Execução orientada por etapas</a:t>
            </a:r>
          </a:p>
        </p:txBody>
      </p:sp>
      <p:sp>
        <p:nvSpPr>
          <p:cNvPr id="2" name="7 / 21">
            <a:extLst xmlns:a="http://schemas.openxmlformats.org/drawingml/2006/main">
              <a:ext uri="{FF2B5EF4-FFF2-40B4-BE49-F238E27FC236}">
                <a16:creationId xmlns:a16="http://schemas.microsoft.com/office/drawing/2014/main" id="{1A6D1E60-5FC0-46D7-94E5-90BF215F99DE}"/>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7 / 21</a:t>
            </a:r>
          </a:p>
        </p:txBody>
      </p:sp>
      <p:sp>
        <p:nvSpPr>
          <p:cNvPr id="3" name="13 marcos concluídos">
            <a:extLst xmlns:a="http://schemas.openxmlformats.org/drawingml/2006/main">
              <a:ext uri="{FF2B5EF4-FFF2-40B4-BE49-F238E27FC236}">
                <a16:creationId xmlns:a16="http://schemas.microsoft.com/office/drawing/2014/main" id="{6BE23FC5-D5A1-4A4E-8029-386D82AB29D2}"/>
              </a:ext>
            </a:extLst>
          </p:cNvPr>
          <p:cNvSpPr>
            <a:spLocks xmlns:a="http://schemas.openxmlformats.org/drawingml/2006/main" noGrp="1"/>
          </p:cNvSpPr>
          <p:nvPr/>
        </p:nvSpPr>
        <p:spPr>
          <a:xfrm xmlns:a="http://schemas.openxmlformats.org/drawingml/2006/main">
            <a:off x="685800" y="1666875"/>
            <a:ext cx="10763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000" b="1">
                <a:solidFill>
                  <a:srgbClr val="17324D"/>
                </a:solidFill>
                <a:latin typeface="Arial"/>
                <a:ea typeface="Arial"/>
                <a:cs typeface="Arial"/>
              </a:defRPr>
            </a:pPr>
            <a:r>
              <a:rPr sz="3000" b="1">
                <a:solidFill>
                  <a:srgbClr val="17324D"/>
                </a:solidFill>
                <a:latin typeface="Arial"/>
                <a:ea typeface="Arial"/>
                <a:cs typeface="Arial"/>
              </a:rPr>
              <a:t>13 marcos concluídos</a:t>
            </a:r>
          </a:p>
        </p:txBody>
      </p:sp>
      <p:sp>
        <p:nvSpPr>
          <p:cNvPr id="4" name="Construção">
            <a:extLst xmlns:a="http://schemas.openxmlformats.org/drawingml/2006/main">
              <a:ext uri="{FF2B5EF4-FFF2-40B4-BE49-F238E27FC236}">
                <a16:creationId xmlns:a16="http://schemas.microsoft.com/office/drawing/2014/main" id="{F5BFB6F2-3492-42C0-A7F0-20A95208BDF7}"/>
              </a:ext>
            </a:extLst>
          </p:cNvPr>
          <p:cNvSpPr>
            <a:spLocks xmlns:a="http://schemas.openxmlformats.org/drawingml/2006/main" noGrp="1"/>
          </p:cNvSpPr>
          <p:nvPr/>
        </p:nvSpPr>
        <p:spPr>
          <a:xfrm xmlns:a="http://schemas.openxmlformats.org/drawingml/2006/main">
            <a:off x="685800" y="2714625"/>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Construção</a:t>
            </a:r>
          </a:p>
        </p:txBody>
      </p:sp>
      <p:sp>
        <p:nvSpPr>
          <p:cNvPr id="5" name="Revisão, base teórica, modelo e simulador.">
            <a:extLst xmlns:a="http://schemas.openxmlformats.org/drawingml/2006/main">
              <a:ext uri="{FF2B5EF4-FFF2-40B4-BE49-F238E27FC236}">
                <a16:creationId xmlns:a16="http://schemas.microsoft.com/office/drawing/2014/main" id="{6F57C188-2787-4077-A291-168E9A878B99}"/>
              </a:ext>
            </a:extLst>
          </p:cNvPr>
          <p:cNvSpPr>
            <a:spLocks xmlns:a="http://schemas.openxmlformats.org/drawingml/2006/main" noGrp="1"/>
          </p:cNvSpPr>
          <p:nvPr/>
        </p:nvSpPr>
        <p:spPr>
          <a:xfrm xmlns:a="http://schemas.openxmlformats.org/drawingml/2006/main">
            <a:off x="3619500" y="2714625"/>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Revisão, base teórica, modelo e simulador.</a:t>
            </a:r>
          </a:p>
        </p:txBody>
      </p:sp>
      <p:sp>
        <p:nvSpPr>
          <p:cNvPr id="6" name="Experimentos">
            <a:extLst xmlns:a="http://schemas.openxmlformats.org/drawingml/2006/main">
              <a:ext uri="{FF2B5EF4-FFF2-40B4-BE49-F238E27FC236}">
                <a16:creationId xmlns:a16="http://schemas.microsoft.com/office/drawing/2014/main" id="{BB19D15B-D2E3-43F0-9577-B95AF8CAD5F8}"/>
              </a:ext>
            </a:extLst>
          </p:cNvPr>
          <p:cNvSpPr>
            <a:spLocks xmlns:a="http://schemas.openxmlformats.org/drawingml/2006/main" noGrp="1"/>
          </p:cNvSpPr>
          <p:nvPr/>
        </p:nvSpPr>
        <p:spPr>
          <a:xfrm xmlns:a="http://schemas.openxmlformats.org/drawingml/2006/main">
            <a:off x="685800" y="3810000"/>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Experimentos</a:t>
            </a:r>
          </a:p>
        </p:txBody>
      </p:sp>
      <p:sp>
        <p:nvSpPr>
          <p:cNvPr id="7" name="Calibração, comparações e robustez.">
            <a:extLst xmlns:a="http://schemas.openxmlformats.org/drawingml/2006/main">
              <a:ext uri="{FF2B5EF4-FFF2-40B4-BE49-F238E27FC236}">
                <a16:creationId xmlns:a16="http://schemas.microsoft.com/office/drawing/2014/main" id="{5B5DBB1C-F407-4F4B-9FCE-77031F6AA0F1}"/>
              </a:ext>
            </a:extLst>
          </p:cNvPr>
          <p:cNvSpPr>
            <a:spLocks xmlns:a="http://schemas.openxmlformats.org/drawingml/2006/main" noGrp="1"/>
          </p:cNvSpPr>
          <p:nvPr/>
        </p:nvSpPr>
        <p:spPr>
          <a:xfrm xmlns:a="http://schemas.openxmlformats.org/drawingml/2006/main">
            <a:off x="3619500" y="3810000"/>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Calibração, comparações e robustez.</a:t>
            </a:r>
          </a:p>
        </p:txBody>
      </p:sp>
      <p:sp>
        <p:nvSpPr>
          <p:cNvPr id="8" name="Consolidação">
            <a:extLst xmlns:a="http://schemas.openxmlformats.org/drawingml/2006/main">
              <a:ext uri="{FF2B5EF4-FFF2-40B4-BE49-F238E27FC236}">
                <a16:creationId xmlns:a16="http://schemas.microsoft.com/office/drawing/2014/main" id="{E994BFD6-2193-4D44-90B0-45CA0FDA5FD1}"/>
              </a:ext>
            </a:extLst>
          </p:cNvPr>
          <p:cNvSpPr>
            <a:spLocks xmlns:a="http://schemas.openxmlformats.org/drawingml/2006/main" noGrp="1"/>
          </p:cNvSpPr>
          <p:nvPr/>
        </p:nvSpPr>
        <p:spPr>
          <a:xfrm xmlns:a="http://schemas.openxmlformats.org/drawingml/2006/main">
            <a:off x="685800" y="4905375"/>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Consolidação</a:t>
            </a:r>
          </a:p>
        </p:txBody>
      </p:sp>
      <p:sp>
        <p:nvSpPr>
          <p:cNvPr id="9" name="Reprodução, dissertação e manuscrito.">
            <a:extLst xmlns:a="http://schemas.openxmlformats.org/drawingml/2006/main">
              <a:ext uri="{FF2B5EF4-FFF2-40B4-BE49-F238E27FC236}">
                <a16:creationId xmlns:a16="http://schemas.microsoft.com/office/drawing/2014/main" id="{22E44957-D510-4AE9-9A0C-8731B195A777}"/>
              </a:ext>
            </a:extLst>
          </p:cNvPr>
          <p:cNvSpPr>
            <a:spLocks xmlns:a="http://schemas.openxmlformats.org/drawingml/2006/main" noGrp="1"/>
          </p:cNvSpPr>
          <p:nvPr/>
        </p:nvSpPr>
        <p:spPr>
          <a:xfrm xmlns:a="http://schemas.openxmlformats.org/drawingml/2006/main">
            <a:off x="3619500" y="4905375"/>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Reprodução, dissertação e manuscrito.</a:t>
            </a:r>
          </a:p>
        </p:txBody>
      </p:sp>
    </p:spTree>
    <p:extLst>
      <p:ext uri="{BB962C8B-B14F-4D97-AF65-F5344CB8AC3E}">
        <p14:creationId xmlns:p14="http://schemas.microsoft.com/office/powerpoint/2010/main" val="505059430"/>
      </p:ext>
    </p:extLst>
  </p:cSld>
</p:sld>
</file>

<file path=ppt/slides/slide8.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7" name="Os produtos do estudo">
            <a:extLst xmlns:a="http://schemas.openxmlformats.org/drawingml/2006/main">
              <a:ext uri="{FF2B5EF4-FFF2-40B4-BE49-F238E27FC236}">
                <a16:creationId xmlns:a16="http://schemas.microsoft.com/office/drawing/2014/main" id="{8826D21A-F69C-47FC-B2CF-47E79DEA7CBB}"/>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Os produtos do estudo</a:t>
            </a:r>
          </a:p>
        </p:txBody>
      </p:sp>
      <p:sp>
        <p:nvSpPr>
          <p:cNvPr id="2" name="8 / 21">
            <a:extLst xmlns:a="http://schemas.openxmlformats.org/drawingml/2006/main">
              <a:ext uri="{FF2B5EF4-FFF2-40B4-BE49-F238E27FC236}">
                <a16:creationId xmlns:a16="http://schemas.microsoft.com/office/drawing/2014/main" id="{006F33B0-E97F-4401-9359-88C374F28208}"/>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8 / 21</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ce3cbe2558134ea8"/>
          <a:stretch xmlns:a="http://schemas.openxmlformats.org/drawingml/2006/main"/>
        </p:blipFill>
        <p:spPr>
          <a:xfrm xmlns:a="http://schemas.openxmlformats.org/drawingml/2006/main">
            <a:off x="1387248" y="1666875"/>
            <a:ext cx="2559504" cy="3619500"/>
          </a:xfrm>
          <a:prstGeom xmlns:a="http://schemas.openxmlformats.org/drawingml/2006/main" prst="rect">
            <a:avLst/>
          </a:prstGeom>
        </p:spPr>
      </p:pic>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838a8572a6254d68"/>
          <a:stretch xmlns:a="http://schemas.openxmlformats.org/drawingml/2006/main"/>
        </p:blipFill>
        <p:spPr>
          <a:xfrm xmlns:a="http://schemas.openxmlformats.org/drawingml/2006/main">
            <a:off x="6721248" y="1666875"/>
            <a:ext cx="2559504" cy="3619500"/>
          </a:xfrm>
          <a:prstGeom xmlns:a="http://schemas.openxmlformats.org/drawingml/2006/main" prst="rect">
            <a:avLst/>
          </a:prstGeom>
        </p:spPr>
      </p:pic>
      <p:sp>
        <p:nvSpPr>
          <p:cNvPr id="5" name="Dissertação: 167 páginas">
            <a:extLst xmlns:a="http://schemas.openxmlformats.org/drawingml/2006/main">
              <a:ext uri="{FF2B5EF4-FFF2-40B4-BE49-F238E27FC236}">
                <a16:creationId xmlns:a16="http://schemas.microsoft.com/office/drawing/2014/main" id="{DA52EF5D-536D-4C87-B334-1C9CCC7A0B10}"/>
              </a:ext>
            </a:extLst>
          </p:cNvPr>
          <p:cNvSpPr>
            <a:spLocks xmlns:a="http://schemas.openxmlformats.org/drawingml/2006/main" noGrp="1"/>
          </p:cNvSpPr>
          <p:nvPr/>
        </p:nvSpPr>
        <p:spPr>
          <a:xfrm xmlns:a="http://schemas.openxmlformats.org/drawingml/2006/main">
            <a:off x="857250" y="5553075"/>
            <a:ext cx="4810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Dissertação: 167 páginas</a:t>
            </a:r>
          </a:p>
        </p:txBody>
      </p:sp>
      <p:sp>
        <p:nvSpPr>
          <p:cNvPr id="6" name="Artigo: 9 páginas">
            <a:extLst xmlns:a="http://schemas.openxmlformats.org/drawingml/2006/main">
              <a:ext uri="{FF2B5EF4-FFF2-40B4-BE49-F238E27FC236}">
                <a16:creationId xmlns:a16="http://schemas.microsoft.com/office/drawing/2014/main" id="{E66B55E5-A44C-4058-A4DE-7973BA808870}"/>
              </a:ext>
            </a:extLst>
          </p:cNvPr>
          <p:cNvSpPr>
            <a:spLocks xmlns:a="http://schemas.openxmlformats.org/drawingml/2006/main" noGrp="1"/>
          </p:cNvSpPr>
          <p:nvPr/>
        </p:nvSpPr>
        <p:spPr>
          <a:xfrm xmlns:a="http://schemas.openxmlformats.org/drawingml/2006/main">
            <a:off x="6858000" y="5553075"/>
            <a:ext cx="4381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Artigo: 9 páginas</a:t>
            </a:r>
          </a:p>
        </p:txBody>
      </p:sp>
    </p:spTree>
    <p:extLst>
      <p:ext uri="{BB962C8B-B14F-4D97-AF65-F5344CB8AC3E}">
        <p14:creationId xmlns:p14="http://schemas.microsoft.com/office/powerpoint/2010/main" val="401973724"/>
      </p:ext>
    </p:extLst>
  </p:cSld>
</p:sld>
</file>

<file path=ppt/slides/slide9.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9" name="Escala do trabalho executado">
            <a:extLst xmlns:a="http://schemas.openxmlformats.org/drawingml/2006/main">
              <a:ext uri="{FF2B5EF4-FFF2-40B4-BE49-F238E27FC236}">
                <a16:creationId xmlns:a16="http://schemas.microsoft.com/office/drawing/2014/main" id="{260F6E27-2EF1-49D8-AB2D-321C2D92C878}"/>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Escala do trabalho executado</a:t>
            </a:r>
          </a:p>
        </p:txBody>
      </p:sp>
      <p:sp>
        <p:nvSpPr>
          <p:cNvPr id="2" name="9 / 21">
            <a:extLst xmlns:a="http://schemas.openxmlformats.org/drawingml/2006/main">
              <a:ext uri="{FF2B5EF4-FFF2-40B4-BE49-F238E27FC236}">
                <a16:creationId xmlns:a16="http://schemas.microsoft.com/office/drawing/2014/main" id="{6CCE739D-E99A-4ECC-A35F-08BAD01C2EEF}"/>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9 / 21</a:t>
            </a:r>
          </a:p>
        </p:txBody>
      </p:sp>
      <p:graphicFrame>
        <p:nvGraphicFramePr>
          <p:cNvPr id="11" name="Chart"/>
          <p:cNvGraphicFramePr/>
          <p:nvPr/>
        </p:nvGraphicFramePr>
        <p:xfrm>
          <a:off xmlns:a="http://schemas.openxmlformats.org/drawingml/2006/main" x="666750" y="1762125"/>
          <a:ext xmlns:a="http://schemas.openxmlformats.org/drawingml/2006/main" cx="6762750" cy="3429000"/>
        </p:xfrm>
        <a:graphic xmlns:a="http://schemas.openxmlformats.org/drawingml/2006/main">
          <a:graphicData uri="http://schemas.openxmlformats.org/drawingml/2006/chart">
            <c:chart xmlns:r="http://schemas.openxmlformats.org/officeDocument/2006/relationships" xmlns:c="http://schemas.openxmlformats.org/drawingml/2006/chart" r:id="Ra33cf8b887984582"/>
          </a:graphicData>
        </a:graphic>
      </p:graphicFrame>
      <p:sp>
        <p:nvSpPr>
          <p:cNvPr id="4" name="26.069">
            <a:extLst xmlns:a="http://schemas.openxmlformats.org/drawingml/2006/main">
              <a:ext uri="{FF2B5EF4-FFF2-40B4-BE49-F238E27FC236}">
                <a16:creationId xmlns:a16="http://schemas.microsoft.com/office/drawing/2014/main" id="{D96F4AB7-997A-4EAB-A1FA-B1DC5041CD01}"/>
              </a:ext>
            </a:extLst>
          </p:cNvPr>
          <p:cNvSpPr>
            <a:spLocks xmlns:a="http://schemas.openxmlformats.org/drawingml/2006/main" noGrp="1"/>
          </p:cNvSpPr>
          <p:nvPr/>
        </p:nvSpPr>
        <p:spPr>
          <a:xfrm xmlns:a="http://schemas.openxmlformats.org/drawingml/2006/main">
            <a:off x="8191500" y="1952625"/>
            <a:ext cx="304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4800" b="1">
                <a:solidFill>
                  <a:srgbClr val="17324D"/>
                </a:solidFill>
                <a:latin typeface="Arial"/>
                <a:ea typeface="Arial"/>
                <a:cs typeface="Arial"/>
              </a:defRPr>
            </a:pPr>
            <a:r>
              <a:rPr sz="4800" b="1">
                <a:solidFill>
                  <a:srgbClr val="17324D"/>
                </a:solidFill>
                <a:latin typeface="Arial"/>
                <a:ea typeface="Arial"/>
                <a:cs typeface="Arial"/>
              </a:rPr>
              <a:t>26.069</a:t>
            </a:r>
          </a:p>
        </p:txBody>
      </p:sp>
      <p:sp>
        <p:nvSpPr>
          <p:cNvPr id="5" name="linhas em módulos,&#10;scripts e testes">
            <a:extLst xmlns:a="http://schemas.openxmlformats.org/drawingml/2006/main">
              <a:ext uri="{FF2B5EF4-FFF2-40B4-BE49-F238E27FC236}">
                <a16:creationId xmlns:a16="http://schemas.microsoft.com/office/drawing/2014/main" id="{1591094B-FDB2-4E70-8B98-10BAB0F46C7C}"/>
              </a:ext>
            </a:extLst>
          </p:cNvPr>
          <p:cNvSpPr>
            <a:spLocks xmlns:a="http://schemas.openxmlformats.org/drawingml/2006/main" noGrp="1"/>
          </p:cNvSpPr>
          <p:nvPr/>
        </p:nvSpPr>
        <p:spPr>
          <a:xfrm xmlns:a="http://schemas.openxmlformats.org/drawingml/2006/main">
            <a:off x="8191500" y="2886075"/>
            <a:ext cx="304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253643"/>
                </a:solidFill>
                <a:latin typeface="Arial"/>
                <a:ea typeface="Arial"/>
                <a:cs typeface="Arial"/>
              </a:defRPr>
            </a:pPr>
            <a:r>
              <a:rPr sz="2100" b="0">
                <a:solidFill>
                  <a:srgbClr val="253643"/>
                </a:solidFill>
                <a:latin typeface="Arial"/>
                <a:ea typeface="Arial"/>
                <a:cs typeface="Arial"/>
              </a:rPr>
              <a:t>linhas em módulos,</a:t>
            </a:r>
          </a:p>
          <a:p xmlns:a="http://schemas.openxmlformats.org/drawingml/2006/main">
            <a:pPr>
              <a:defRPr sz="2100" b="0">
                <a:solidFill>
                  <a:srgbClr val="253643"/>
                </a:solidFill>
                <a:latin typeface="Arial"/>
                <a:ea typeface="Arial"/>
                <a:cs typeface="Arial"/>
              </a:defRPr>
            </a:pPr>
            <a:r>
              <a:rPr sz="2100" b="0">
                <a:solidFill>
                  <a:srgbClr val="253643"/>
                </a:solidFill>
                <a:latin typeface="Arial"/>
                <a:ea typeface="Arial"/>
                <a:cs typeface="Arial"/>
              </a:rPr>
              <a:t>scripts e testes</a:t>
            </a:r>
          </a:p>
        </p:txBody>
      </p:sp>
      <p:sp>
        <p:nvSpPr>
          <p:cNvPr id="6" name="45.528">
            <a:extLst xmlns:a="http://schemas.openxmlformats.org/drawingml/2006/main">
              <a:ext uri="{FF2B5EF4-FFF2-40B4-BE49-F238E27FC236}">
                <a16:creationId xmlns:a16="http://schemas.microsoft.com/office/drawing/2014/main" id="{16FE7A0C-7050-4E4C-BA65-579ECAAF3A42}"/>
              </a:ext>
            </a:extLst>
          </p:cNvPr>
          <p:cNvSpPr>
            <a:spLocks xmlns:a="http://schemas.openxmlformats.org/drawingml/2006/main" noGrp="1"/>
          </p:cNvSpPr>
          <p:nvPr/>
        </p:nvSpPr>
        <p:spPr>
          <a:xfrm xmlns:a="http://schemas.openxmlformats.org/drawingml/2006/main">
            <a:off x="8191500" y="4048125"/>
            <a:ext cx="304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4200" b="1">
                <a:solidFill>
                  <a:srgbClr val="17324D"/>
                </a:solidFill>
                <a:latin typeface="Arial"/>
                <a:ea typeface="Arial"/>
                <a:cs typeface="Arial"/>
              </a:defRPr>
            </a:pPr>
            <a:r>
              <a:rPr sz="4200" b="1">
                <a:solidFill>
                  <a:srgbClr val="17324D"/>
                </a:solidFill>
                <a:latin typeface="Arial"/>
                <a:ea typeface="Arial"/>
                <a:cs typeface="Arial"/>
              </a:rPr>
              <a:t>45.528</a:t>
            </a:r>
          </a:p>
        </p:txBody>
      </p:sp>
      <p:sp>
        <p:nvSpPr>
          <p:cNvPr id="7" name="análises principais">
            <a:extLst xmlns:a="http://schemas.openxmlformats.org/drawingml/2006/main">
              <a:ext uri="{FF2B5EF4-FFF2-40B4-BE49-F238E27FC236}">
                <a16:creationId xmlns:a16="http://schemas.microsoft.com/office/drawing/2014/main" id="{C0A00DEC-BCA2-4392-8AD8-977ACF25282D}"/>
              </a:ext>
            </a:extLst>
          </p:cNvPr>
          <p:cNvSpPr>
            <a:spLocks xmlns:a="http://schemas.openxmlformats.org/drawingml/2006/main" noGrp="1"/>
          </p:cNvSpPr>
          <p:nvPr/>
        </p:nvSpPr>
        <p:spPr>
          <a:xfrm xmlns:a="http://schemas.openxmlformats.org/drawingml/2006/main">
            <a:off x="8191500" y="4924425"/>
            <a:ext cx="304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253643"/>
                </a:solidFill>
                <a:latin typeface="Arial"/>
                <a:ea typeface="Arial"/>
                <a:cs typeface="Arial"/>
              </a:defRPr>
            </a:pPr>
            <a:r>
              <a:rPr sz="2025" b="0">
                <a:solidFill>
                  <a:srgbClr val="253643"/>
                </a:solidFill>
                <a:latin typeface="Arial"/>
                <a:ea typeface="Arial"/>
                <a:cs typeface="Arial"/>
              </a:rPr>
              <a:t>análises principais</a:t>
            </a:r>
          </a:p>
        </p:txBody>
      </p:sp>
      <p:sp>
        <p:nvSpPr>
          <p:cNvPr id="8" name="Base histórica v1.0.0. Quantidade mede execução, não qu">
            <a:extLst xmlns:a="http://schemas.openxmlformats.org/drawingml/2006/main">
              <a:ext uri="{FF2B5EF4-FFF2-40B4-BE49-F238E27FC236}">
                <a16:creationId xmlns:a16="http://schemas.microsoft.com/office/drawing/2014/main" id="{D16B2F21-375C-4503-964A-3C60519E17D9}"/>
              </a:ext>
            </a:extLst>
          </p:cNvPr>
          <p:cNvSpPr>
            <a:spLocks xmlns:a="http://schemas.openxmlformats.org/drawingml/2006/main" noGrp="1"/>
          </p:cNvSpPr>
          <p:nvPr/>
        </p:nvSpPr>
        <p:spPr>
          <a:xfrm xmlns:a="http://schemas.openxmlformats.org/drawingml/2006/main">
            <a:off x="685800" y="5734050"/>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0">
                <a:solidFill>
                  <a:srgbClr val="586B79"/>
                </a:solidFill>
                <a:latin typeface="Arial"/>
                <a:ea typeface="Arial"/>
                <a:cs typeface="Arial"/>
              </a:defRPr>
            </a:pPr>
            <a:r>
              <a:rPr sz="1725" b="0">
                <a:solidFill>
                  <a:srgbClr val="586B79"/>
                </a:solidFill>
                <a:latin typeface="Arial"/>
                <a:ea typeface="Arial"/>
                <a:cs typeface="Arial"/>
              </a:rPr>
              <a:t>Base histórica v1.0.0. Quantidade mede execução, não qualidade científica.</a:t>
            </a:r>
          </a:p>
        </p:txBody>
      </p:sp>
    </p:spTree>
    <p:extLst>
      <p:ext uri="{BB962C8B-B14F-4D97-AF65-F5344CB8AC3E}">
        <p14:creationId xmlns:p14="http://schemas.microsoft.com/office/powerpoint/2010/main" val="1277448842"/>
      </p:ext>
    </p:extLst>
  </p:cSld>
</p:sld>
</file>

<file path=ppt/slides/slide10.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8" name="Tempo de execução e tempo de formação">
            <a:extLst xmlns:a="http://schemas.openxmlformats.org/drawingml/2006/main">
              <a:ext uri="{FF2B5EF4-FFF2-40B4-BE49-F238E27FC236}">
                <a16:creationId xmlns:a16="http://schemas.microsoft.com/office/drawing/2014/main" id="{6BFBC90F-EF0D-4F37-9CBE-42A89CFAB4EA}"/>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Tempo de execução e tempo de formação</a:t>
            </a:r>
          </a:p>
        </p:txBody>
      </p:sp>
      <p:sp>
        <p:nvSpPr>
          <p:cNvPr id="2" name="10 / 21">
            <a:extLst xmlns:a="http://schemas.openxmlformats.org/drawingml/2006/main">
              <a:ext uri="{FF2B5EF4-FFF2-40B4-BE49-F238E27FC236}">
                <a16:creationId xmlns:a16="http://schemas.microsoft.com/office/drawing/2014/main" id="{25A6BD02-BCE5-4624-9D1E-A229B202AE40}"/>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10 / 21</a:t>
            </a:r>
          </a:p>
        </p:txBody>
      </p:sp>
      <p:sp>
        <p:nvSpPr>
          <p:cNvPr id="3" name="30 h 51 min">
            <a:extLst xmlns:a="http://schemas.openxmlformats.org/drawingml/2006/main">
              <a:ext uri="{FF2B5EF4-FFF2-40B4-BE49-F238E27FC236}">
                <a16:creationId xmlns:a16="http://schemas.microsoft.com/office/drawing/2014/main" id="{C57E91CF-285A-4045-B6D2-5612F958B48B}"/>
              </a:ext>
            </a:extLst>
          </p:cNvPr>
          <p:cNvSpPr>
            <a:spLocks xmlns:a="http://schemas.openxmlformats.org/drawingml/2006/main" noGrp="1"/>
          </p:cNvSpPr>
          <p:nvPr/>
        </p:nvSpPr>
        <p:spPr>
          <a:xfrm xmlns:a="http://schemas.openxmlformats.org/drawingml/2006/main">
            <a:off x="685800" y="1952625"/>
            <a:ext cx="6381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5700" b="1">
                <a:solidFill>
                  <a:srgbClr val="17324D"/>
                </a:solidFill>
                <a:latin typeface="Arial"/>
                <a:ea typeface="Arial"/>
                <a:cs typeface="Arial"/>
              </a:defRPr>
            </a:pPr>
            <a:r>
              <a:rPr sz="5700" b="1">
                <a:solidFill>
                  <a:srgbClr val="17324D"/>
                </a:solidFill>
                <a:latin typeface="Arial"/>
                <a:ea typeface="Arial"/>
                <a:cs typeface="Arial"/>
              </a:rPr>
              <a:t>30 h 51 min</a:t>
            </a:r>
          </a:p>
        </p:txBody>
      </p:sp>
      <p:sp>
        <p:nvSpPr>
          <p:cNvPr id="4" name="contador do goal original">
            <a:extLst xmlns:a="http://schemas.openxmlformats.org/drawingml/2006/main">
              <a:ext uri="{FF2B5EF4-FFF2-40B4-BE49-F238E27FC236}">
                <a16:creationId xmlns:a16="http://schemas.microsoft.com/office/drawing/2014/main" id="{152918A7-5F20-41B7-80A4-3A56BE2E4957}"/>
              </a:ext>
            </a:extLst>
          </p:cNvPr>
          <p:cNvSpPr>
            <a:spLocks xmlns:a="http://schemas.openxmlformats.org/drawingml/2006/main" noGrp="1"/>
          </p:cNvSpPr>
          <p:nvPr/>
        </p:nvSpPr>
        <p:spPr>
          <a:xfrm xmlns:a="http://schemas.openxmlformats.org/drawingml/2006/main">
            <a:off x="723900" y="3076575"/>
            <a:ext cx="714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253643"/>
                </a:solidFill>
                <a:latin typeface="Arial"/>
                <a:ea typeface="Arial"/>
                <a:cs typeface="Arial"/>
              </a:defRPr>
            </a:pPr>
            <a:r>
              <a:rPr sz="2400" b="0">
                <a:solidFill>
                  <a:srgbClr val="253643"/>
                </a:solidFill>
                <a:latin typeface="Arial"/>
                <a:ea typeface="Arial"/>
                <a:cs typeface="Arial"/>
              </a:rPr>
              <a:t>contador do goal original</a:t>
            </a:r>
          </a:p>
        </p:txBody>
      </p:sp>
      <p:sp>
        <p:nvSpPr>
          <p:cNvPr id="5" name="54 h 56 min">
            <a:extLst xmlns:a="http://schemas.openxmlformats.org/drawingml/2006/main">
              <a:ext uri="{FF2B5EF4-FFF2-40B4-BE49-F238E27FC236}">
                <a16:creationId xmlns:a16="http://schemas.microsoft.com/office/drawing/2014/main" id="{33F7121B-4238-4C59-82C0-F57EC4B5B7A2}"/>
              </a:ext>
            </a:extLst>
          </p:cNvPr>
          <p:cNvSpPr>
            <a:spLocks xmlns:a="http://schemas.openxmlformats.org/drawingml/2006/main" noGrp="1"/>
          </p:cNvSpPr>
          <p:nvPr/>
        </p:nvSpPr>
        <p:spPr>
          <a:xfrm xmlns:a="http://schemas.openxmlformats.org/drawingml/2006/main">
            <a:off x="685800" y="4124325"/>
            <a:ext cx="6381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4875" b="1">
                <a:solidFill>
                  <a:srgbClr val="087F8C"/>
                </a:solidFill>
                <a:latin typeface="Arial"/>
                <a:ea typeface="Arial"/>
                <a:cs typeface="Arial"/>
              </a:defRPr>
            </a:pPr>
            <a:r>
              <a:rPr sz="4875" b="1">
                <a:solidFill>
                  <a:srgbClr val="087F8C"/>
                </a:solidFill>
                <a:latin typeface="Arial"/>
                <a:ea typeface="Arial"/>
                <a:cs typeface="Arial"/>
              </a:rPr>
              <a:t>54 h 56 min</a:t>
            </a:r>
          </a:p>
        </p:txBody>
      </p:sp>
      <p:sp>
        <p:nvSpPr>
          <p:cNvPr id="6" name="intervalo no calendário, com pausas">
            <a:extLst xmlns:a="http://schemas.openxmlformats.org/drawingml/2006/main">
              <a:ext uri="{FF2B5EF4-FFF2-40B4-BE49-F238E27FC236}">
                <a16:creationId xmlns:a16="http://schemas.microsoft.com/office/drawing/2014/main" id="{7ABAE0AE-26A0-4609-9CE0-B2D0B0A02B98}"/>
              </a:ext>
            </a:extLst>
          </p:cNvPr>
          <p:cNvSpPr>
            <a:spLocks xmlns:a="http://schemas.openxmlformats.org/drawingml/2006/main" noGrp="1"/>
          </p:cNvSpPr>
          <p:nvPr/>
        </p:nvSpPr>
        <p:spPr>
          <a:xfrm xmlns:a="http://schemas.openxmlformats.org/drawingml/2006/main">
            <a:off x="723900" y="5153025"/>
            <a:ext cx="7429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intervalo no calendário, com pausas</a:t>
            </a:r>
          </a:p>
        </p:txBody>
      </p:sp>
      <p:sp>
        <p:nvSpPr>
          <p:cNvPr id="7" name="Compreender e&#10;validar exigem&#10;tempo próprio.">
            <a:extLst xmlns:a="http://schemas.openxmlformats.org/drawingml/2006/main">
              <a:ext uri="{FF2B5EF4-FFF2-40B4-BE49-F238E27FC236}">
                <a16:creationId xmlns:a16="http://schemas.microsoft.com/office/drawing/2014/main" id="{099BC9D5-93AA-482E-A40F-7A71C8CE1298}"/>
              </a:ext>
            </a:extLst>
          </p:cNvPr>
          <p:cNvSpPr>
            <a:spLocks xmlns:a="http://schemas.openxmlformats.org/drawingml/2006/main" noGrp="1"/>
          </p:cNvSpPr>
          <p:nvPr/>
        </p:nvSpPr>
        <p:spPr>
          <a:xfrm xmlns:a="http://schemas.openxmlformats.org/drawingml/2006/main">
            <a:off x="8477250" y="2238375"/>
            <a:ext cx="304800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625" b="1">
                <a:solidFill>
                  <a:srgbClr val="B35B32"/>
                </a:solidFill>
                <a:latin typeface="Arial"/>
                <a:ea typeface="Arial"/>
                <a:cs typeface="Arial"/>
              </a:defRPr>
            </a:pPr>
            <a:r>
              <a:rPr sz="2625" b="1">
                <a:solidFill>
                  <a:srgbClr val="B35B32"/>
                </a:solidFill>
                <a:latin typeface="Arial"/>
                <a:ea typeface="Arial"/>
                <a:cs typeface="Arial"/>
              </a:rPr>
              <a:t>Compreender e</a:t>
            </a:r>
          </a:p>
          <a:p xmlns:a="http://schemas.openxmlformats.org/drawingml/2006/main">
            <a:pPr>
              <a:defRPr sz="2625" b="1">
                <a:solidFill>
                  <a:srgbClr val="B35B32"/>
                </a:solidFill>
                <a:latin typeface="Arial"/>
                <a:ea typeface="Arial"/>
                <a:cs typeface="Arial"/>
              </a:defRPr>
            </a:pPr>
            <a:r>
              <a:rPr sz="2625" b="1">
                <a:solidFill>
                  <a:srgbClr val="B35B32"/>
                </a:solidFill>
                <a:latin typeface="Arial"/>
                <a:ea typeface="Arial"/>
                <a:cs typeface="Arial"/>
              </a:rPr>
              <a:t>validar exigem</a:t>
            </a:r>
          </a:p>
          <a:p xmlns:a="http://schemas.openxmlformats.org/drawingml/2006/main">
            <a:pPr>
              <a:defRPr sz="2625" b="1">
                <a:solidFill>
                  <a:srgbClr val="B35B32"/>
                </a:solidFill>
                <a:latin typeface="Arial"/>
                <a:ea typeface="Arial"/>
                <a:cs typeface="Arial"/>
              </a:defRPr>
            </a:pPr>
            <a:r>
              <a:rPr sz="2625" b="1">
                <a:solidFill>
                  <a:srgbClr val="B35B32"/>
                </a:solidFill>
                <a:latin typeface="Arial"/>
                <a:ea typeface="Arial"/>
                <a:cs typeface="Arial"/>
              </a:rPr>
              <a:t>tempo próprio.</a:t>
            </a:r>
          </a:p>
        </p:txBody>
      </p:sp>
    </p:spTree>
    <p:extLst>
      <p:ext uri="{BB962C8B-B14F-4D97-AF65-F5344CB8AC3E}">
        <p14:creationId xmlns:p14="http://schemas.microsoft.com/office/powerpoint/2010/main" val="1315628330"/>
      </p:ext>
    </p:extLst>
  </p:cSld>
</p:sld>
</file>

<file path=ppt/slides/slide11.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9" name="Custos: uma ordem de grandeza">
            <a:extLst xmlns:a="http://schemas.openxmlformats.org/drawingml/2006/main">
              <a:ext uri="{FF2B5EF4-FFF2-40B4-BE49-F238E27FC236}">
                <a16:creationId xmlns:a16="http://schemas.microsoft.com/office/drawing/2014/main" id="{4AB54F54-B534-4C40-94FB-5A4B9521F7D5}"/>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Custos: uma ordem de grandeza</a:t>
            </a:r>
          </a:p>
        </p:txBody>
      </p:sp>
      <p:sp>
        <p:nvSpPr>
          <p:cNvPr id="2" name="11 / 21">
            <a:extLst xmlns:a="http://schemas.openxmlformats.org/drawingml/2006/main">
              <a:ext uri="{FF2B5EF4-FFF2-40B4-BE49-F238E27FC236}">
                <a16:creationId xmlns:a16="http://schemas.microsoft.com/office/drawing/2014/main" id="{91D6DD4E-7779-48EF-9090-E761BB183D04}"/>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11 / 21</a:t>
            </a:r>
          </a:p>
        </p:txBody>
      </p:sp>
      <p:sp>
        <p:nvSpPr>
          <p:cNvPr id="3" name="US$ 50">
            <a:extLst xmlns:a="http://schemas.openxmlformats.org/drawingml/2006/main">
              <a:ext uri="{FF2B5EF4-FFF2-40B4-BE49-F238E27FC236}">
                <a16:creationId xmlns:a16="http://schemas.microsoft.com/office/drawing/2014/main" id="{1693E580-F703-414F-92BC-4C49B2700BB6}"/>
              </a:ext>
            </a:extLst>
          </p:cNvPr>
          <p:cNvSpPr>
            <a:spLocks xmlns:a="http://schemas.openxmlformats.org/drawingml/2006/main" noGrp="1"/>
          </p:cNvSpPr>
          <p:nvPr/>
        </p:nvSpPr>
        <p:spPr>
          <a:xfrm xmlns:a="http://schemas.openxmlformats.org/drawingml/2006/main">
            <a:off x="685800" y="1952625"/>
            <a:ext cx="4953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4950" b="1">
                <a:solidFill>
                  <a:srgbClr val="087F8C"/>
                </a:solidFill>
                <a:latin typeface="Arial"/>
                <a:ea typeface="Arial"/>
                <a:cs typeface="Arial"/>
              </a:defRPr>
            </a:pPr>
            <a:r>
              <a:rPr sz="4950" b="1">
                <a:solidFill>
                  <a:srgbClr val="087F8C"/>
                </a:solidFill>
                <a:latin typeface="Arial"/>
                <a:ea typeface="Arial"/>
                <a:cs typeface="Arial"/>
              </a:rPr>
              <a:t>US$ 50</a:t>
            </a:r>
          </a:p>
        </p:txBody>
      </p:sp>
      <p:sp>
        <p:nvSpPr>
          <p:cNvPr id="4" name="Rateio da assinatura&#10;Estimativa do usuário">
            <a:extLst xmlns:a="http://schemas.openxmlformats.org/drawingml/2006/main">
              <a:ext uri="{FF2B5EF4-FFF2-40B4-BE49-F238E27FC236}">
                <a16:creationId xmlns:a16="http://schemas.microsoft.com/office/drawing/2014/main" id="{19197DD6-3C79-439D-9136-19B758596A5C}"/>
              </a:ext>
            </a:extLst>
          </p:cNvPr>
          <p:cNvSpPr>
            <a:spLocks xmlns:a="http://schemas.openxmlformats.org/drawingml/2006/main" noGrp="1"/>
          </p:cNvSpPr>
          <p:nvPr/>
        </p:nvSpPr>
        <p:spPr>
          <a:xfrm xmlns:a="http://schemas.openxmlformats.org/drawingml/2006/main">
            <a:off x="685800" y="3048000"/>
            <a:ext cx="4953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253643"/>
                </a:solidFill>
                <a:latin typeface="Arial"/>
                <a:ea typeface="Arial"/>
                <a:cs typeface="Arial"/>
              </a:defRPr>
            </a:pPr>
            <a:r>
              <a:rPr sz="2250" b="0">
                <a:solidFill>
                  <a:srgbClr val="253643"/>
                </a:solidFill>
                <a:latin typeface="Arial"/>
                <a:ea typeface="Arial"/>
                <a:cs typeface="Arial"/>
              </a:rPr>
              <a:t>Rateio da assinatura</a:t>
            </a:r>
          </a:p>
          <a:p xmlns:a="http://schemas.openxmlformats.org/drawingml/2006/main">
            <a:pPr>
              <a:defRPr sz="2250" b="0">
                <a:solidFill>
                  <a:srgbClr val="253643"/>
                </a:solidFill>
                <a:latin typeface="Arial"/>
                <a:ea typeface="Arial"/>
                <a:cs typeface="Arial"/>
              </a:defRPr>
            </a:pPr>
            <a:r>
              <a:rPr sz="2250" b="0">
                <a:solidFill>
                  <a:srgbClr val="253643"/>
                </a:solidFill>
                <a:latin typeface="Arial"/>
                <a:ea typeface="Arial"/>
                <a:cs typeface="Arial"/>
              </a:rPr>
              <a:t>Estimativa do usuário</a:t>
            </a:r>
          </a:p>
        </p:txBody>
      </p:sp>
      <p:sp>
        <p:nvSpPr>
          <p:cNvPr id="5" name="US$ 1.300">
            <a:extLst xmlns:a="http://schemas.openxmlformats.org/drawingml/2006/main">
              <a:ext uri="{FF2B5EF4-FFF2-40B4-BE49-F238E27FC236}">
                <a16:creationId xmlns:a16="http://schemas.microsoft.com/office/drawing/2014/main" id="{CE1203ED-7CA6-40CB-AA5D-9EDBFEE1F262}"/>
              </a:ext>
            </a:extLst>
          </p:cNvPr>
          <p:cNvSpPr>
            <a:spLocks xmlns:a="http://schemas.openxmlformats.org/drawingml/2006/main" noGrp="1"/>
          </p:cNvSpPr>
          <p:nvPr/>
        </p:nvSpPr>
        <p:spPr>
          <a:xfrm xmlns:a="http://schemas.openxmlformats.org/drawingml/2006/main">
            <a:off x="6572250" y="1952625"/>
            <a:ext cx="4953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4950" b="1">
                <a:solidFill>
                  <a:srgbClr val="17324D"/>
                </a:solidFill>
                <a:latin typeface="Arial"/>
                <a:ea typeface="Arial"/>
                <a:cs typeface="Arial"/>
              </a:defRPr>
            </a:pPr>
            <a:r>
              <a:rPr sz="4950" b="1">
                <a:solidFill>
                  <a:srgbClr val="17324D"/>
                </a:solidFill>
                <a:latin typeface="Arial"/>
                <a:ea typeface="Arial"/>
                <a:cs typeface="Arial"/>
              </a:rPr>
              <a:t>US$ 1.300</a:t>
            </a:r>
          </a:p>
        </p:txBody>
      </p:sp>
      <p:sp>
        <p:nvSpPr>
          <p:cNvPr id="6" name="Equivalente em API Standard&#10;Consumo registrado × preços">
            <a:extLst xmlns:a="http://schemas.openxmlformats.org/drawingml/2006/main">
              <a:ext uri="{FF2B5EF4-FFF2-40B4-BE49-F238E27FC236}">
                <a16:creationId xmlns:a16="http://schemas.microsoft.com/office/drawing/2014/main" id="{116FBE7A-B43A-4349-9100-D7F8A4817545}"/>
              </a:ext>
            </a:extLst>
          </p:cNvPr>
          <p:cNvSpPr>
            <a:spLocks xmlns:a="http://schemas.openxmlformats.org/drawingml/2006/main" noGrp="1"/>
          </p:cNvSpPr>
          <p:nvPr/>
        </p:nvSpPr>
        <p:spPr>
          <a:xfrm xmlns:a="http://schemas.openxmlformats.org/drawingml/2006/main">
            <a:off x="6572250" y="3048000"/>
            <a:ext cx="4953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253643"/>
                </a:solidFill>
                <a:latin typeface="Arial"/>
                <a:ea typeface="Arial"/>
                <a:cs typeface="Arial"/>
              </a:defRPr>
            </a:pPr>
            <a:r>
              <a:rPr sz="2250" b="0">
                <a:solidFill>
                  <a:srgbClr val="253643"/>
                </a:solidFill>
                <a:latin typeface="Arial"/>
                <a:ea typeface="Arial"/>
                <a:cs typeface="Arial"/>
              </a:rPr>
              <a:t>Equivalente em API Standard</a:t>
            </a:r>
          </a:p>
          <a:p xmlns:a="http://schemas.openxmlformats.org/drawingml/2006/main">
            <a:pPr>
              <a:defRPr sz="2250" b="0">
                <a:solidFill>
                  <a:srgbClr val="253643"/>
                </a:solidFill>
                <a:latin typeface="Arial"/>
                <a:ea typeface="Arial"/>
                <a:cs typeface="Arial"/>
              </a:defRPr>
            </a:pPr>
            <a:r>
              <a:rPr sz="2250" b="0">
                <a:solidFill>
                  <a:srgbClr val="253643"/>
                </a:solidFill>
                <a:latin typeface="Arial"/>
                <a:ea typeface="Arial"/>
                <a:cs typeface="Arial"/>
              </a:rPr>
              <a:t>Consumo registrado × preços</a:t>
            </a:r>
          </a:p>
        </p:txBody>
      </p:sp>
      <p:sp>
        <p:nvSpPr>
          <p:cNvPr id="7" name="API Fast: cerca de US$ 2.600 para os mesmos tokens.">
            <a:extLst xmlns:a="http://schemas.openxmlformats.org/drawingml/2006/main">
              <a:ext uri="{FF2B5EF4-FFF2-40B4-BE49-F238E27FC236}">
                <a16:creationId xmlns:a16="http://schemas.microsoft.com/office/drawing/2014/main" id="{F3DFE9EF-EDD8-438D-B8B9-1C5DFB74BFA6}"/>
              </a:ext>
            </a:extLst>
          </p:cNvPr>
          <p:cNvSpPr>
            <a:spLocks xmlns:a="http://schemas.openxmlformats.org/drawingml/2006/main" noGrp="1"/>
          </p:cNvSpPr>
          <p:nvPr/>
        </p:nvSpPr>
        <p:spPr>
          <a:xfrm xmlns:a="http://schemas.openxmlformats.org/drawingml/2006/main">
            <a:off x="685800" y="4686300"/>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325" b="1">
                <a:solidFill>
                  <a:srgbClr val="B35B32"/>
                </a:solidFill>
                <a:latin typeface="Arial"/>
                <a:ea typeface="Arial"/>
                <a:cs typeface="Arial"/>
              </a:defRPr>
            </a:pPr>
            <a:r>
              <a:rPr sz="2325" b="1">
                <a:solidFill>
                  <a:srgbClr val="B35B32"/>
                </a:solidFill>
                <a:latin typeface="Arial"/>
                <a:ea typeface="Arial"/>
                <a:cs typeface="Arial"/>
              </a:rPr>
              <a:t>API Fast: cerca de US$ 2.600 para os mesmos tokens.</a:t>
            </a:r>
          </a:p>
        </p:txBody>
      </p:sp>
      <p:sp>
        <p:nvSpPr>
          <p:cNvPr id="8" name="Estimativas, não faturas. Excluem Gemini, computação lo">
            <a:extLst xmlns:a="http://schemas.openxmlformats.org/drawingml/2006/main">
              <a:ext uri="{FF2B5EF4-FFF2-40B4-BE49-F238E27FC236}">
                <a16:creationId xmlns:a16="http://schemas.microsoft.com/office/drawing/2014/main" id="{765F4853-D753-4E30-AE5F-33E48AF028E4}"/>
              </a:ext>
            </a:extLst>
          </p:cNvPr>
          <p:cNvSpPr>
            <a:spLocks xmlns:a="http://schemas.openxmlformats.org/drawingml/2006/main" noGrp="1"/>
          </p:cNvSpPr>
          <p:nvPr/>
        </p:nvSpPr>
        <p:spPr>
          <a:xfrm xmlns:a="http://schemas.openxmlformats.org/drawingml/2006/main">
            <a:off x="685800" y="5600700"/>
            <a:ext cx="10820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586B79"/>
                </a:solidFill>
                <a:latin typeface="Arial"/>
                <a:ea typeface="Arial"/>
                <a:cs typeface="Arial"/>
              </a:defRPr>
            </a:pPr>
            <a:r>
              <a:rPr sz="1800" b="0">
                <a:solidFill>
                  <a:srgbClr val="586B79"/>
                </a:solidFill>
                <a:latin typeface="Arial"/>
                <a:ea typeface="Arial"/>
                <a:cs typeface="Arial"/>
              </a:rPr>
              <a:t>Estimativas, não faturas. Excluem Gemini, computação local, tarifas</a:t>
            </a:r>
          </a:p>
          <a:p xmlns:a="http://schemas.openxmlformats.org/drawingml/2006/main">
            <a:pPr>
              <a:defRPr sz="1800" b="0">
                <a:solidFill>
                  <a:srgbClr val="586B79"/>
                </a:solidFill>
                <a:latin typeface="Arial"/>
                <a:ea typeface="Arial"/>
                <a:cs typeface="Arial"/>
              </a:defRPr>
            </a:pPr>
            <a:r>
              <a:rPr sz="1800" b="0">
                <a:solidFill>
                  <a:srgbClr val="586B79"/>
                </a:solidFill>
                <a:latin typeface="Arial"/>
                <a:ea typeface="Arial"/>
                <a:cs typeface="Arial"/>
              </a:rPr>
              <a:t>adicionais de ferramentas e elaboração do estudo de caso.</a:t>
            </a:r>
          </a:p>
        </p:txBody>
      </p:sp>
    </p:spTree>
    <p:extLst>
      <p:ext uri="{BB962C8B-B14F-4D97-AF65-F5344CB8AC3E}">
        <p14:creationId xmlns:p14="http://schemas.microsoft.com/office/powerpoint/2010/main" val="1015815037"/>
      </p:ext>
    </p:extLst>
  </p:cSld>
</p:sld>
</file>

<file path=ppt/slides/slide12.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9" name="Um controle expôs confiança excessiva">
            <a:extLst xmlns:a="http://schemas.openxmlformats.org/drawingml/2006/main">
              <a:ext uri="{FF2B5EF4-FFF2-40B4-BE49-F238E27FC236}">
                <a16:creationId xmlns:a16="http://schemas.microsoft.com/office/drawing/2014/main" id="{7A0F40C0-BC30-41EA-AA7A-753B88C3CE4E}"/>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Um controle expôs confiança excessiva</a:t>
            </a:r>
          </a:p>
        </p:txBody>
      </p:sp>
      <p:sp>
        <p:nvSpPr>
          <p:cNvPr id="2" name="12 / 21">
            <a:extLst xmlns:a="http://schemas.openxmlformats.org/drawingml/2006/main">
              <a:ext uri="{FF2B5EF4-FFF2-40B4-BE49-F238E27FC236}">
                <a16:creationId xmlns:a16="http://schemas.microsoft.com/office/drawing/2014/main" id="{6371BB6C-1648-442A-BD38-95D8BB232D2E}"/>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12 / 21</a:t>
            </a:r>
          </a:p>
        </p:txBody>
      </p:sp>
      <p:sp>
        <p:nvSpPr>
          <p:cNvPr id="3" name="90%">
            <a:extLst xmlns:a="http://schemas.openxmlformats.org/drawingml/2006/main">
              <a:ext uri="{FF2B5EF4-FFF2-40B4-BE49-F238E27FC236}">
                <a16:creationId xmlns:a16="http://schemas.microsoft.com/office/drawing/2014/main" id="{4C9EC805-1E2E-4DD5-A966-D9D2015365B0}"/>
              </a:ext>
            </a:extLst>
          </p:cNvPr>
          <p:cNvSpPr>
            <a:spLocks xmlns:a="http://schemas.openxmlformats.org/drawingml/2006/main" noGrp="1"/>
          </p:cNvSpPr>
          <p:nvPr/>
        </p:nvSpPr>
        <p:spPr>
          <a:xfrm xmlns:a="http://schemas.openxmlformats.org/drawingml/2006/main">
            <a:off x="685800" y="1905000"/>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5700" b="1">
                <a:solidFill>
                  <a:srgbClr val="087F8C"/>
                </a:solidFill>
                <a:latin typeface="Arial"/>
                <a:ea typeface="Arial"/>
                <a:cs typeface="Arial"/>
              </a:defRPr>
            </a:pPr>
            <a:r>
              <a:rPr sz="5700" b="1">
                <a:solidFill>
                  <a:srgbClr val="087F8C"/>
                </a:solidFill>
                <a:latin typeface="Arial"/>
                <a:ea typeface="Arial"/>
                <a:cs typeface="Arial"/>
              </a:rPr>
              <a:t>90%</a:t>
            </a:r>
          </a:p>
        </p:txBody>
      </p:sp>
      <p:sp>
        <p:nvSpPr>
          <p:cNvPr id="4" name="Cobertura nominal&#10;esperada">
            <a:extLst xmlns:a="http://schemas.openxmlformats.org/drawingml/2006/main">
              <a:ext uri="{FF2B5EF4-FFF2-40B4-BE49-F238E27FC236}">
                <a16:creationId xmlns:a16="http://schemas.microsoft.com/office/drawing/2014/main" id="{E43CB008-9712-4865-9222-CCB2BA25DD67}"/>
              </a:ext>
            </a:extLst>
          </p:cNvPr>
          <p:cNvSpPr>
            <a:spLocks xmlns:a="http://schemas.openxmlformats.org/drawingml/2006/main" noGrp="1"/>
          </p:cNvSpPr>
          <p:nvPr/>
        </p:nvSpPr>
        <p:spPr>
          <a:xfrm xmlns:a="http://schemas.openxmlformats.org/drawingml/2006/main">
            <a:off x="685800" y="3124200"/>
            <a:ext cx="495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253643"/>
                </a:solidFill>
                <a:latin typeface="Arial"/>
                <a:ea typeface="Arial"/>
                <a:cs typeface="Arial"/>
              </a:defRPr>
            </a:pPr>
            <a:r>
              <a:rPr sz="2400" b="0">
                <a:solidFill>
                  <a:srgbClr val="253643"/>
                </a:solidFill>
                <a:latin typeface="Arial"/>
                <a:ea typeface="Arial"/>
                <a:cs typeface="Arial"/>
              </a:rPr>
              <a:t>Cobertura nominal</a:t>
            </a:r>
          </a:p>
          <a:p xmlns:a="http://schemas.openxmlformats.org/drawingml/2006/main">
            <a:pPr>
              <a:defRPr sz="2400" b="0">
                <a:solidFill>
                  <a:srgbClr val="253643"/>
                </a:solidFill>
                <a:latin typeface="Arial"/>
                <a:ea typeface="Arial"/>
                <a:cs typeface="Arial"/>
              </a:defRPr>
            </a:pPr>
            <a:r>
              <a:rPr sz="2400" b="0">
                <a:solidFill>
                  <a:srgbClr val="253643"/>
                </a:solidFill>
                <a:latin typeface="Arial"/>
                <a:ea typeface="Arial"/>
                <a:cs typeface="Arial"/>
              </a:rPr>
              <a:t>esperada</a:t>
            </a:r>
          </a:p>
        </p:txBody>
      </p:sp>
      <p:sp>
        <p:nvSpPr>
          <p:cNvPr id="5" name="62,6%">
            <a:extLst xmlns:a="http://schemas.openxmlformats.org/drawingml/2006/main">
              <a:ext uri="{FF2B5EF4-FFF2-40B4-BE49-F238E27FC236}">
                <a16:creationId xmlns:a16="http://schemas.microsoft.com/office/drawing/2014/main" id="{8EE74219-F28F-411C-A2CD-79051C06FD17}"/>
              </a:ext>
            </a:extLst>
          </p:cNvPr>
          <p:cNvSpPr>
            <a:spLocks xmlns:a="http://schemas.openxmlformats.org/drawingml/2006/main" noGrp="1"/>
          </p:cNvSpPr>
          <p:nvPr/>
        </p:nvSpPr>
        <p:spPr>
          <a:xfrm xmlns:a="http://schemas.openxmlformats.org/drawingml/2006/main">
            <a:off x="6572250" y="1905000"/>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5700" b="1">
                <a:solidFill>
                  <a:srgbClr val="B35B32"/>
                </a:solidFill>
                <a:latin typeface="Arial"/>
                <a:ea typeface="Arial"/>
                <a:cs typeface="Arial"/>
              </a:defRPr>
            </a:pPr>
            <a:r>
              <a:rPr sz="5700" b="1">
                <a:solidFill>
                  <a:srgbClr val="B35B32"/>
                </a:solidFill>
                <a:latin typeface="Arial"/>
                <a:ea typeface="Arial"/>
                <a:cs typeface="Arial"/>
              </a:rPr>
              <a:t>62,6%</a:t>
            </a:r>
          </a:p>
        </p:txBody>
      </p:sp>
      <p:sp>
        <p:nvSpPr>
          <p:cNvPr id="6" name="Cobertura observada&#10;em um parâmetro">
            <a:extLst xmlns:a="http://schemas.openxmlformats.org/drawingml/2006/main">
              <a:ext uri="{FF2B5EF4-FFF2-40B4-BE49-F238E27FC236}">
                <a16:creationId xmlns:a16="http://schemas.microsoft.com/office/drawing/2014/main" id="{4715FC29-ECE4-4364-8DA9-CFB7818531FD}"/>
              </a:ext>
            </a:extLst>
          </p:cNvPr>
          <p:cNvSpPr>
            <a:spLocks xmlns:a="http://schemas.openxmlformats.org/drawingml/2006/main" noGrp="1"/>
          </p:cNvSpPr>
          <p:nvPr/>
        </p:nvSpPr>
        <p:spPr>
          <a:xfrm xmlns:a="http://schemas.openxmlformats.org/drawingml/2006/main">
            <a:off x="6572250" y="3124200"/>
            <a:ext cx="495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253643"/>
                </a:solidFill>
                <a:latin typeface="Arial"/>
                <a:ea typeface="Arial"/>
                <a:cs typeface="Arial"/>
              </a:defRPr>
            </a:pPr>
            <a:r>
              <a:rPr sz="2400" b="0">
                <a:solidFill>
                  <a:srgbClr val="253643"/>
                </a:solidFill>
                <a:latin typeface="Arial"/>
                <a:ea typeface="Arial"/>
                <a:cs typeface="Arial"/>
              </a:rPr>
              <a:t>Cobertura observada</a:t>
            </a:r>
          </a:p>
          <a:p xmlns:a="http://schemas.openxmlformats.org/drawingml/2006/main">
            <a:pPr>
              <a:defRPr sz="2400" b="0">
                <a:solidFill>
                  <a:srgbClr val="253643"/>
                </a:solidFill>
                <a:latin typeface="Arial"/>
                <a:ea typeface="Arial"/>
                <a:cs typeface="Arial"/>
              </a:defRPr>
            </a:pPr>
            <a:r>
              <a:rPr sz="2400" b="0">
                <a:solidFill>
                  <a:srgbClr val="253643"/>
                </a:solidFill>
                <a:latin typeface="Arial"/>
                <a:ea typeface="Arial"/>
                <a:cs typeface="Arial"/>
              </a:rPr>
              <a:t>em um parâmetro</a:t>
            </a:r>
          </a:p>
        </p:txBody>
      </p:sp>
      <p:sp>
        <p:nvSpPr>
          <p:cNvPr id="7" name="313 de 500 casos continham a verdade simulada.">
            <a:extLst xmlns:a="http://schemas.openxmlformats.org/drawingml/2006/main">
              <a:ext uri="{FF2B5EF4-FFF2-40B4-BE49-F238E27FC236}">
                <a16:creationId xmlns:a16="http://schemas.microsoft.com/office/drawing/2014/main" id="{900D5513-2272-4B38-A420-6B13BDEBD8A4}"/>
              </a:ext>
            </a:extLst>
          </p:cNvPr>
          <p:cNvSpPr>
            <a:spLocks xmlns:a="http://schemas.openxmlformats.org/drawingml/2006/main" noGrp="1"/>
          </p:cNvSpPr>
          <p:nvPr/>
        </p:nvSpPr>
        <p:spPr>
          <a:xfrm xmlns:a="http://schemas.openxmlformats.org/drawingml/2006/main">
            <a:off x="685800" y="4838700"/>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625" b="1">
                <a:solidFill>
                  <a:srgbClr val="17324D"/>
                </a:solidFill>
                <a:latin typeface="Arial"/>
                <a:ea typeface="Arial"/>
                <a:cs typeface="Arial"/>
              </a:defRPr>
            </a:pPr>
            <a:r>
              <a:rPr sz="2625" b="1">
                <a:solidFill>
                  <a:srgbClr val="17324D"/>
                </a:solidFill>
                <a:latin typeface="Arial"/>
                <a:ea typeface="Arial"/>
                <a:cs typeface="Arial"/>
              </a:rPr>
              <a:t>313 de 500 casos continham a verdade simulada.</a:t>
            </a:r>
          </a:p>
        </p:txBody>
      </p:sp>
      <p:sp>
        <p:nvSpPr>
          <p:cNvPr id="8" name="As simulações permitiram detectar uma limitação da apro">
            <a:extLst xmlns:a="http://schemas.openxmlformats.org/drawingml/2006/main">
              <a:ext uri="{FF2B5EF4-FFF2-40B4-BE49-F238E27FC236}">
                <a16:creationId xmlns:a16="http://schemas.microsoft.com/office/drawing/2014/main" id="{A5878217-BD8A-44DB-807A-E32E46BECDDA}"/>
              </a:ext>
            </a:extLst>
          </p:cNvPr>
          <p:cNvSpPr>
            <a:spLocks xmlns:a="http://schemas.openxmlformats.org/drawingml/2006/main" noGrp="1"/>
          </p:cNvSpPr>
          <p:nvPr/>
        </p:nvSpPr>
        <p:spPr>
          <a:xfrm xmlns:a="http://schemas.openxmlformats.org/drawingml/2006/main">
            <a:off x="685800" y="5581650"/>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586B79"/>
                </a:solidFill>
                <a:latin typeface="Arial"/>
                <a:ea typeface="Arial"/>
                <a:cs typeface="Arial"/>
              </a:defRPr>
            </a:pPr>
            <a:r>
              <a:rPr sz="2025" b="0">
                <a:solidFill>
                  <a:srgbClr val="586B79"/>
                </a:solidFill>
                <a:latin typeface="Arial"/>
                <a:ea typeface="Arial"/>
                <a:cs typeface="Arial"/>
              </a:rPr>
              <a:t>As simulações permitiram detectar uma limitação da aproximação.</a:t>
            </a:r>
          </a:p>
        </p:txBody>
      </p:sp>
    </p:spTree>
    <p:extLst>
      <p:ext uri="{BB962C8B-B14F-4D97-AF65-F5344CB8AC3E}">
        <p14:creationId xmlns:p14="http://schemas.microsoft.com/office/powerpoint/2010/main" val="829823110"/>
      </p:ext>
    </p:extLst>
  </p:cSld>
</p:sld>
</file>

<file path=ppt/slides/slide13.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9" name="Correções e perguntas ainda abertas">
            <a:extLst xmlns:a="http://schemas.openxmlformats.org/drawingml/2006/main">
              <a:ext uri="{FF2B5EF4-FFF2-40B4-BE49-F238E27FC236}">
                <a16:creationId xmlns:a16="http://schemas.microsoft.com/office/drawing/2014/main" id="{2FA86077-2A5E-4C27-A4A2-0173408B8781}"/>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Correções e perguntas ainda abertas</a:t>
            </a:r>
          </a:p>
        </p:txBody>
      </p:sp>
      <p:sp>
        <p:nvSpPr>
          <p:cNvPr id="2" name="13 / 21">
            <a:extLst xmlns:a="http://schemas.openxmlformats.org/drawingml/2006/main">
              <a:ext uri="{FF2B5EF4-FFF2-40B4-BE49-F238E27FC236}">
                <a16:creationId xmlns:a16="http://schemas.microsoft.com/office/drawing/2014/main" id="{3A7F9042-EC77-4E99-8DDE-403AF07DD8DB}"/>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13 / 21</a:t>
            </a:r>
          </a:p>
        </p:txBody>
      </p:sp>
      <p:sp>
        <p:nvSpPr>
          <p:cNvPr id="3" name="Texto">
            <a:extLst xmlns:a="http://schemas.openxmlformats.org/drawingml/2006/main">
              <a:ext uri="{FF2B5EF4-FFF2-40B4-BE49-F238E27FC236}">
                <a16:creationId xmlns:a16="http://schemas.microsoft.com/office/drawing/2014/main" id="{BA8CE73D-7C54-4759-9416-2C3EA2CFD2A4}"/>
              </a:ext>
            </a:extLst>
          </p:cNvPr>
          <p:cNvSpPr>
            <a:spLocks xmlns:a="http://schemas.openxmlformats.org/drawingml/2006/main" noGrp="1"/>
          </p:cNvSpPr>
          <p:nvPr/>
        </p:nvSpPr>
        <p:spPr>
          <a:xfrm xmlns:a="http://schemas.openxmlformats.org/drawingml/2006/main">
            <a:off x="685800" y="1905000"/>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Texto</a:t>
            </a:r>
          </a:p>
        </p:txBody>
      </p:sp>
      <p:sp>
        <p:nvSpPr>
          <p:cNvPr id="4" name="Corrigiu uma descrição incompatível com o código.">
            <a:extLst xmlns:a="http://schemas.openxmlformats.org/drawingml/2006/main">
              <a:ext uri="{FF2B5EF4-FFF2-40B4-BE49-F238E27FC236}">
                <a16:creationId xmlns:a16="http://schemas.microsoft.com/office/drawing/2014/main" id="{2952DF3E-4800-40E5-900A-F75298672AAD}"/>
              </a:ext>
            </a:extLst>
          </p:cNvPr>
          <p:cNvSpPr>
            <a:spLocks xmlns:a="http://schemas.openxmlformats.org/drawingml/2006/main" noGrp="1"/>
          </p:cNvSpPr>
          <p:nvPr/>
        </p:nvSpPr>
        <p:spPr>
          <a:xfrm xmlns:a="http://schemas.openxmlformats.org/drawingml/2006/main">
            <a:off x="3619500" y="1905000"/>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Corrigiu uma descrição incompatível com o código.</a:t>
            </a:r>
          </a:p>
        </p:txBody>
      </p:sp>
      <p:sp>
        <p:nvSpPr>
          <p:cNvPr id="5" name="Execução">
            <a:extLst xmlns:a="http://schemas.openxmlformats.org/drawingml/2006/main">
              <a:ext uri="{FF2B5EF4-FFF2-40B4-BE49-F238E27FC236}">
                <a16:creationId xmlns:a16="http://schemas.microsoft.com/office/drawing/2014/main" id="{EC281F3B-9958-4CF0-8DED-3B3FD274FA3A}"/>
              </a:ext>
            </a:extLst>
          </p:cNvPr>
          <p:cNvSpPr>
            <a:spLocks xmlns:a="http://schemas.openxmlformats.org/drawingml/2006/main" noGrp="1"/>
          </p:cNvSpPr>
          <p:nvPr/>
        </p:nvSpPr>
        <p:spPr>
          <a:xfrm xmlns:a="http://schemas.openxmlformats.org/drawingml/2006/main">
            <a:off x="685800" y="3000375"/>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Execução</a:t>
            </a:r>
          </a:p>
        </p:txBody>
      </p:sp>
      <p:sp>
        <p:nvSpPr>
          <p:cNvPr id="6" name="Recuperou cálculos e insumos após falhas operacionais.">
            <a:extLst xmlns:a="http://schemas.openxmlformats.org/drawingml/2006/main">
              <a:ext uri="{FF2B5EF4-FFF2-40B4-BE49-F238E27FC236}">
                <a16:creationId xmlns:a16="http://schemas.microsoft.com/office/drawing/2014/main" id="{066B0BCB-0BB5-4919-BDC1-E3D69B5B1268}"/>
              </a:ext>
            </a:extLst>
          </p:cNvPr>
          <p:cNvSpPr>
            <a:spLocks xmlns:a="http://schemas.openxmlformats.org/drawingml/2006/main" noGrp="1"/>
          </p:cNvSpPr>
          <p:nvPr/>
        </p:nvSpPr>
        <p:spPr>
          <a:xfrm xmlns:a="http://schemas.openxmlformats.org/drawingml/2006/main">
            <a:off x="3619500" y="3000375"/>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Recuperou cálculos e insumos após falhas operacionais.</a:t>
            </a:r>
          </a:p>
        </p:txBody>
      </p:sp>
      <p:sp>
        <p:nvSpPr>
          <p:cNvPr id="7" name="Escopo">
            <a:extLst xmlns:a="http://schemas.openxmlformats.org/drawingml/2006/main">
              <a:ext uri="{FF2B5EF4-FFF2-40B4-BE49-F238E27FC236}">
                <a16:creationId xmlns:a16="http://schemas.microsoft.com/office/drawing/2014/main" id="{147CF06B-BA83-46D9-93F0-CAAA53A95463}"/>
              </a:ext>
            </a:extLst>
          </p:cNvPr>
          <p:cNvSpPr>
            <a:spLocks xmlns:a="http://schemas.openxmlformats.org/drawingml/2006/main" noGrp="1"/>
          </p:cNvSpPr>
          <p:nvPr/>
        </p:nvSpPr>
        <p:spPr>
          <a:xfrm xmlns:a="http://schemas.openxmlformats.org/drawingml/2006/main">
            <a:off x="685800" y="4095750"/>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Escopo</a:t>
            </a:r>
          </a:p>
        </p:txBody>
      </p:sp>
      <p:sp>
        <p:nvSpPr>
          <p:cNvPr id="8" name="Resolveu um estudo mais restrito, preservando a inconcl">
            <a:extLst xmlns:a="http://schemas.openxmlformats.org/drawingml/2006/main">
              <a:ext uri="{FF2B5EF4-FFF2-40B4-BE49-F238E27FC236}">
                <a16:creationId xmlns:a16="http://schemas.microsoft.com/office/drawing/2014/main" id="{96D134FF-5A5B-42F7-A807-6337F7ED2BBA}"/>
              </a:ext>
            </a:extLst>
          </p:cNvPr>
          <p:cNvSpPr>
            <a:spLocks xmlns:a="http://schemas.openxmlformats.org/drawingml/2006/main" noGrp="1"/>
          </p:cNvSpPr>
          <p:nvPr/>
        </p:nvSpPr>
        <p:spPr>
          <a:xfrm xmlns:a="http://schemas.openxmlformats.org/drawingml/2006/main">
            <a:off x="3619500" y="4095750"/>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Resolveu um estudo mais restrito, preservando a inconclusão ampla.</a:t>
            </a:r>
          </a:p>
        </p:txBody>
      </p:sp>
    </p:spTree>
    <p:extLst>
      <p:ext uri="{BB962C8B-B14F-4D97-AF65-F5344CB8AC3E}">
        <p14:creationId xmlns:p14="http://schemas.microsoft.com/office/powerpoint/2010/main" val="1561466529"/>
      </p:ext>
    </p:extLst>
  </p:cSld>
</p:sld>
</file>

<file path=ppt/slides/slide14.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8" name="Dois ciclos de revisão com Gemini">
            <a:extLst xmlns:a="http://schemas.openxmlformats.org/drawingml/2006/main">
              <a:ext uri="{FF2B5EF4-FFF2-40B4-BE49-F238E27FC236}">
                <a16:creationId xmlns:a16="http://schemas.microsoft.com/office/drawing/2014/main" id="{19077D9C-0BD7-4242-B44F-3BEE805A71A8}"/>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Dois ciclos de revisão com Gemini</a:t>
            </a:r>
          </a:p>
        </p:txBody>
      </p:sp>
      <p:sp>
        <p:nvSpPr>
          <p:cNvPr id="2" name="14 / 21">
            <a:extLst xmlns:a="http://schemas.openxmlformats.org/drawingml/2006/main">
              <a:ext uri="{FF2B5EF4-FFF2-40B4-BE49-F238E27FC236}">
                <a16:creationId xmlns:a16="http://schemas.microsoft.com/office/drawing/2014/main" id="{6755C8F0-A8C7-4F8F-8CE1-EFEB33964E19}"/>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14 / 21</a:t>
            </a:r>
          </a:p>
        </p:txBody>
      </p:sp>
      <p:sp>
        <p:nvSpPr>
          <p:cNvPr id="3" name="Dissertação">
            <a:extLst xmlns:a="http://schemas.openxmlformats.org/drawingml/2006/main">
              <a:ext uri="{FF2B5EF4-FFF2-40B4-BE49-F238E27FC236}">
                <a16:creationId xmlns:a16="http://schemas.microsoft.com/office/drawing/2014/main" id="{B52061C8-3D93-4CDC-955C-817F8763E689}"/>
              </a:ext>
            </a:extLst>
          </p:cNvPr>
          <p:cNvSpPr>
            <a:spLocks xmlns:a="http://schemas.openxmlformats.org/drawingml/2006/main" noGrp="1"/>
          </p:cNvSpPr>
          <p:nvPr/>
        </p:nvSpPr>
        <p:spPr>
          <a:xfrm xmlns:a="http://schemas.openxmlformats.org/drawingml/2006/main">
            <a:off x="685800" y="1981200"/>
            <a:ext cx="4953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Dissertação</a:t>
            </a:r>
          </a:p>
        </p:txBody>
      </p:sp>
      <p:sp>
        <p:nvSpPr>
          <p:cNvPr id="4" name="Críticas científicas&#10;Novos estudos pontuais&#10;Revisão do ">
            <a:extLst xmlns:a="http://schemas.openxmlformats.org/drawingml/2006/main">
              <a:ext uri="{FF2B5EF4-FFF2-40B4-BE49-F238E27FC236}">
                <a16:creationId xmlns:a16="http://schemas.microsoft.com/office/drawing/2014/main" id="{4CB843DF-008B-4C74-94C0-A1B98E1A2146}"/>
              </a:ext>
            </a:extLst>
          </p:cNvPr>
          <p:cNvSpPr>
            <a:spLocks xmlns:a="http://schemas.openxmlformats.org/drawingml/2006/main" noGrp="1"/>
          </p:cNvSpPr>
          <p:nvPr/>
        </p:nvSpPr>
        <p:spPr>
          <a:xfrm xmlns:a="http://schemas.openxmlformats.org/drawingml/2006/main">
            <a:off x="685800" y="2686050"/>
            <a:ext cx="4953000" cy="261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Críticas científicas</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Novos estudos pontuais</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Revisão do texto e figuras</a:t>
            </a:r>
          </a:p>
        </p:txBody>
      </p:sp>
      <p:sp>
        <p:nvSpPr>
          <p:cNvPr id="5" name="Manuscrito">
            <a:extLst xmlns:a="http://schemas.openxmlformats.org/drawingml/2006/main">
              <a:ext uri="{FF2B5EF4-FFF2-40B4-BE49-F238E27FC236}">
                <a16:creationId xmlns:a16="http://schemas.microsoft.com/office/drawing/2014/main" id="{E9CD7F6A-EDC5-4514-A9CE-726EEFA2FA8C}"/>
              </a:ext>
            </a:extLst>
          </p:cNvPr>
          <p:cNvSpPr>
            <a:spLocks xmlns:a="http://schemas.openxmlformats.org/drawingml/2006/main" noGrp="1"/>
          </p:cNvSpPr>
          <p:nvPr/>
        </p:nvSpPr>
        <p:spPr>
          <a:xfrm xmlns:a="http://schemas.openxmlformats.org/drawingml/2006/main">
            <a:off x="6572250" y="1981200"/>
            <a:ext cx="4953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Manuscrito</a:t>
            </a:r>
          </a:p>
        </p:txBody>
      </p:sp>
      <p:sp>
        <p:nvSpPr>
          <p:cNvPr id="6" name="Estrutura e interpretação&#10;Fluxograma e referências&#10;Resu">
            <a:extLst xmlns:a="http://schemas.openxmlformats.org/drawingml/2006/main">
              <a:ext uri="{FF2B5EF4-FFF2-40B4-BE49-F238E27FC236}">
                <a16:creationId xmlns:a16="http://schemas.microsoft.com/office/drawing/2014/main" id="{FB3A9227-E2E5-48CC-8F3D-253D637FB3A7}"/>
              </a:ext>
            </a:extLst>
          </p:cNvPr>
          <p:cNvSpPr>
            <a:spLocks xmlns:a="http://schemas.openxmlformats.org/drawingml/2006/main" noGrp="1"/>
          </p:cNvSpPr>
          <p:nvPr/>
        </p:nvSpPr>
        <p:spPr>
          <a:xfrm xmlns:a="http://schemas.openxmlformats.org/drawingml/2006/main">
            <a:off x="6572250" y="2686050"/>
            <a:ext cx="4953000" cy="261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Estrutura e interpretação</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Fluxograma e referências</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Resultados existentes</a:t>
            </a:r>
          </a:p>
        </p:txBody>
      </p:sp>
      <p:sp>
        <p:nvSpPr>
          <p:cNvPr id="7" name="O usuário mediou a revisão e o Codex conferiu as recome">
            <a:extLst xmlns:a="http://schemas.openxmlformats.org/drawingml/2006/main">
              <a:ext uri="{FF2B5EF4-FFF2-40B4-BE49-F238E27FC236}">
                <a16:creationId xmlns:a16="http://schemas.microsoft.com/office/drawing/2014/main" id="{929EF5C2-69DE-4A94-9B01-92C77F61ED4E}"/>
              </a:ext>
            </a:extLst>
          </p:cNvPr>
          <p:cNvSpPr>
            <a:spLocks xmlns:a="http://schemas.openxmlformats.org/drawingml/2006/main" noGrp="1"/>
          </p:cNvSpPr>
          <p:nvPr/>
        </p:nvSpPr>
        <p:spPr>
          <a:xfrm xmlns:a="http://schemas.openxmlformats.org/drawingml/2006/main">
            <a:off x="685800" y="5572125"/>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17324D"/>
                </a:solidFill>
                <a:latin typeface="Arial"/>
                <a:ea typeface="Arial"/>
                <a:cs typeface="Arial"/>
              </a:defRPr>
            </a:pPr>
            <a:r>
              <a:rPr sz="2100" b="1">
                <a:solidFill>
                  <a:srgbClr val="17324D"/>
                </a:solidFill>
                <a:latin typeface="Arial"/>
                <a:ea typeface="Arial"/>
                <a:cs typeface="Arial"/>
              </a:rPr>
              <a:t>O usuário mediou a revisão e o Codex conferiu as recomendações.</a:t>
            </a:r>
          </a:p>
        </p:txBody>
      </p:sp>
    </p:spTree>
    <p:extLst>
      <p:ext uri="{BB962C8B-B14F-4D97-AF65-F5344CB8AC3E}">
        <p14:creationId xmlns:p14="http://schemas.microsoft.com/office/powerpoint/2010/main" val="1901254201"/>
      </p:ext>
    </p:extLst>
  </p:cSld>
</p:sld>
</file>

<file path=ppt/slides/slide15.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8" name="O Codex filtrou o segundo parecer">
            <a:extLst xmlns:a="http://schemas.openxmlformats.org/drawingml/2006/main">
              <a:ext uri="{FF2B5EF4-FFF2-40B4-BE49-F238E27FC236}">
                <a16:creationId xmlns:a16="http://schemas.microsoft.com/office/drawing/2014/main" id="{AD062ACB-2DA3-49F0-B9B4-F2D86F173F78}"/>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O Codex filtrou o segundo parecer</a:t>
            </a:r>
          </a:p>
        </p:txBody>
      </p:sp>
      <p:sp>
        <p:nvSpPr>
          <p:cNvPr id="2" name="15 / 21">
            <a:extLst xmlns:a="http://schemas.openxmlformats.org/drawingml/2006/main">
              <a:ext uri="{FF2B5EF4-FFF2-40B4-BE49-F238E27FC236}">
                <a16:creationId xmlns:a16="http://schemas.microsoft.com/office/drawing/2014/main" id="{4911348D-9ABC-419B-9007-998D7CE5119B}"/>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15 / 21</a:t>
            </a:r>
          </a:p>
        </p:txBody>
      </p:sp>
      <p:sp>
        <p:nvSpPr>
          <p:cNvPr id="3" name="Melhorias incorporadas">
            <a:extLst xmlns:a="http://schemas.openxmlformats.org/drawingml/2006/main">
              <a:ext uri="{FF2B5EF4-FFF2-40B4-BE49-F238E27FC236}">
                <a16:creationId xmlns:a16="http://schemas.microsoft.com/office/drawing/2014/main" id="{BBA3682C-F885-4BD8-9EA6-24778EE5CAA3}"/>
              </a:ext>
            </a:extLst>
          </p:cNvPr>
          <p:cNvSpPr>
            <a:spLocks xmlns:a="http://schemas.openxmlformats.org/drawingml/2006/main" noGrp="1"/>
          </p:cNvSpPr>
          <p:nvPr/>
        </p:nvSpPr>
        <p:spPr>
          <a:xfrm xmlns:a="http://schemas.openxmlformats.org/drawingml/2006/main">
            <a:off x="685800" y="1952625"/>
            <a:ext cx="4953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Melhorias incorporadas</a:t>
            </a:r>
          </a:p>
        </p:txBody>
      </p:sp>
      <p:sp>
        <p:nvSpPr>
          <p:cNvPr id="4" name="Contribuição mais clara&#10;Resultados reorganizados&#10;Diagra">
            <a:extLst xmlns:a="http://schemas.openxmlformats.org/drawingml/2006/main">
              <a:ext uri="{FF2B5EF4-FFF2-40B4-BE49-F238E27FC236}">
                <a16:creationId xmlns:a16="http://schemas.microsoft.com/office/drawing/2014/main" id="{49283404-F4E9-4272-B4DA-AD6A778DE7EC}"/>
              </a:ext>
            </a:extLst>
          </p:cNvPr>
          <p:cNvSpPr>
            <a:spLocks xmlns:a="http://schemas.openxmlformats.org/drawingml/2006/main" noGrp="1"/>
          </p:cNvSpPr>
          <p:nvPr/>
        </p:nvSpPr>
        <p:spPr>
          <a:xfrm xmlns:a="http://schemas.openxmlformats.org/drawingml/2006/main">
            <a:off x="685800" y="2657475"/>
            <a:ext cx="4953000" cy="261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Contribuição mais clara</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Resultados reorganizados</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Diagrama explicativo</a:t>
            </a:r>
          </a:p>
        </p:txBody>
      </p:sp>
      <p:sp>
        <p:nvSpPr>
          <p:cNvPr id="5" name="Generalizações limitadas">
            <a:extLst xmlns:a="http://schemas.openxmlformats.org/drawingml/2006/main">
              <a:ext uri="{FF2B5EF4-FFF2-40B4-BE49-F238E27FC236}">
                <a16:creationId xmlns:a16="http://schemas.microsoft.com/office/drawing/2014/main" id="{8E12FC8C-BB7B-41D3-9D19-783D00438DFF}"/>
              </a:ext>
            </a:extLst>
          </p:cNvPr>
          <p:cNvSpPr>
            <a:spLocks xmlns:a="http://schemas.openxmlformats.org/drawingml/2006/main" noGrp="1"/>
          </p:cNvSpPr>
          <p:nvPr/>
        </p:nvSpPr>
        <p:spPr>
          <a:xfrm xmlns:a="http://schemas.openxmlformats.org/drawingml/2006/main">
            <a:off x="6572250" y="1952625"/>
            <a:ext cx="4953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Generalizações limitadas</a:t>
            </a:r>
          </a:p>
        </p:txBody>
      </p:sp>
      <p:sp>
        <p:nvSpPr>
          <p:cNvPr id="6" name="Ineditismo absoluto&#10;Falha inevitável em dados reais&#10;Cau">
            <a:extLst xmlns:a="http://schemas.openxmlformats.org/drawingml/2006/main">
              <a:ext uri="{FF2B5EF4-FFF2-40B4-BE49-F238E27FC236}">
                <a16:creationId xmlns:a16="http://schemas.microsoft.com/office/drawing/2014/main" id="{E59EB15F-9957-41D9-AD58-29522AAF5B63}"/>
              </a:ext>
            </a:extLst>
          </p:cNvPr>
          <p:cNvSpPr>
            <a:spLocks xmlns:a="http://schemas.openxmlformats.org/drawingml/2006/main" noGrp="1"/>
          </p:cNvSpPr>
          <p:nvPr/>
        </p:nvSpPr>
        <p:spPr>
          <a:xfrm xmlns:a="http://schemas.openxmlformats.org/drawingml/2006/main">
            <a:off x="6572250" y="2657475"/>
            <a:ext cx="4953000" cy="261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Ineditismo absoluto</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Falha inevitável em dados reais</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Causas não demonstradas</a:t>
            </a:r>
          </a:p>
        </p:txBody>
      </p:sp>
      <p:sp>
        <p:nvSpPr>
          <p:cNvPr id="7" name="A revisão ampliou o artigo de 7 para 9 páginas, sem nov">
            <a:extLst xmlns:a="http://schemas.openxmlformats.org/drawingml/2006/main">
              <a:ext uri="{FF2B5EF4-FFF2-40B4-BE49-F238E27FC236}">
                <a16:creationId xmlns:a16="http://schemas.microsoft.com/office/drawing/2014/main" id="{F51F0B00-D303-4415-A76B-2FC60A3CAAF4}"/>
              </a:ext>
            </a:extLst>
          </p:cNvPr>
          <p:cNvSpPr>
            <a:spLocks xmlns:a="http://schemas.openxmlformats.org/drawingml/2006/main" noGrp="1"/>
          </p:cNvSpPr>
          <p:nvPr/>
        </p:nvSpPr>
        <p:spPr>
          <a:xfrm xmlns:a="http://schemas.openxmlformats.org/drawingml/2006/main">
            <a:off x="685800" y="557212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1">
                <a:solidFill>
                  <a:srgbClr val="17324D"/>
                </a:solidFill>
                <a:latin typeface="Arial"/>
                <a:ea typeface="Arial"/>
                <a:cs typeface="Arial"/>
              </a:defRPr>
            </a:pPr>
            <a:r>
              <a:rPr sz="2025" b="1">
                <a:solidFill>
                  <a:srgbClr val="17324D"/>
                </a:solidFill>
                <a:latin typeface="Arial"/>
                <a:ea typeface="Arial"/>
                <a:cs typeface="Arial"/>
              </a:rPr>
              <a:t>A revisão ampliou o artigo de 7 para 9 páginas, sem novas simulações.</a:t>
            </a:r>
          </a:p>
        </p:txBody>
      </p:sp>
    </p:spTree>
    <p:extLst>
      <p:ext uri="{BB962C8B-B14F-4D97-AF65-F5344CB8AC3E}">
        <p14:creationId xmlns:p14="http://schemas.microsoft.com/office/powerpoint/2010/main" val="630405139"/>
      </p:ext>
    </p:extLst>
  </p:cSld>
</p:sld>
</file>

<file path=ppt/slides/slide16.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7" name="O que o caso demonstra">
            <a:extLst xmlns:a="http://schemas.openxmlformats.org/drawingml/2006/main">
              <a:ext uri="{FF2B5EF4-FFF2-40B4-BE49-F238E27FC236}">
                <a16:creationId xmlns:a16="http://schemas.microsoft.com/office/drawing/2014/main" id="{0A3687DB-7592-4F26-963D-0B1F5628DA8F}"/>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O que o caso demonstra</a:t>
            </a:r>
          </a:p>
        </p:txBody>
      </p:sp>
      <p:sp>
        <p:nvSpPr>
          <p:cNvPr id="2" name="16 / 21">
            <a:extLst xmlns:a="http://schemas.openxmlformats.org/drawingml/2006/main">
              <a:ext uri="{FF2B5EF4-FFF2-40B4-BE49-F238E27FC236}">
                <a16:creationId xmlns:a16="http://schemas.microsoft.com/office/drawing/2014/main" id="{9AB2D822-81AB-4AA7-A29B-75E569C81A55}"/>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16 / 21</a:t>
            </a:r>
          </a:p>
        </p:txBody>
      </p:sp>
      <p:sp>
        <p:nvSpPr>
          <p:cNvPr id="3" name="Evidência disponível">
            <a:extLst xmlns:a="http://schemas.openxmlformats.org/drawingml/2006/main">
              <a:ext uri="{FF2B5EF4-FFF2-40B4-BE49-F238E27FC236}">
                <a16:creationId xmlns:a16="http://schemas.microsoft.com/office/drawing/2014/main" id="{4C7BCE78-7906-46BC-9A87-F447790F11C7}"/>
              </a:ext>
            </a:extLst>
          </p:cNvPr>
          <p:cNvSpPr>
            <a:spLocks xmlns:a="http://schemas.openxmlformats.org/drawingml/2006/main" noGrp="1"/>
          </p:cNvSpPr>
          <p:nvPr/>
        </p:nvSpPr>
        <p:spPr>
          <a:xfrm xmlns:a="http://schemas.openxmlformats.org/drawingml/2006/main">
            <a:off x="685800" y="1809750"/>
            <a:ext cx="4953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Evidência disponível</a:t>
            </a:r>
          </a:p>
        </p:txBody>
      </p:sp>
      <p:sp>
        <p:nvSpPr>
          <p:cNvPr id="4" name="Formulação e execução extensas&#10;Controles e correções&#10;Pr">
            <a:extLst xmlns:a="http://schemas.openxmlformats.org/drawingml/2006/main">
              <a:ext uri="{FF2B5EF4-FFF2-40B4-BE49-F238E27FC236}">
                <a16:creationId xmlns:a16="http://schemas.microsoft.com/office/drawing/2014/main" id="{C6131481-DEFA-47C4-8159-DE2AD1E331A6}"/>
              </a:ext>
            </a:extLst>
          </p:cNvPr>
          <p:cNvSpPr>
            <a:spLocks xmlns:a="http://schemas.openxmlformats.org/drawingml/2006/main" noGrp="1"/>
          </p:cNvSpPr>
          <p:nvPr/>
        </p:nvSpPr>
        <p:spPr>
          <a:xfrm xmlns:a="http://schemas.openxmlformats.org/drawingml/2006/main">
            <a:off x="685800" y="2514600"/>
            <a:ext cx="4953000" cy="261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Formulação e execução extensas</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Controles e correções</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Produtos reproduzíveis no escopo</a:t>
            </a:r>
          </a:p>
        </p:txBody>
      </p:sp>
      <p:sp>
        <p:nvSpPr>
          <p:cNvPr id="5" name="Questões abertas">
            <a:extLst xmlns:a="http://schemas.openxmlformats.org/drawingml/2006/main">
              <a:ext uri="{FF2B5EF4-FFF2-40B4-BE49-F238E27FC236}">
                <a16:creationId xmlns:a16="http://schemas.microsoft.com/office/drawing/2014/main" id="{FA50062B-5711-41BC-91A7-503E5865AEDC}"/>
              </a:ext>
            </a:extLst>
          </p:cNvPr>
          <p:cNvSpPr>
            <a:spLocks xmlns:a="http://schemas.openxmlformats.org/drawingml/2006/main" noGrp="1"/>
          </p:cNvSpPr>
          <p:nvPr/>
        </p:nvSpPr>
        <p:spPr>
          <a:xfrm xmlns:a="http://schemas.openxmlformats.org/drawingml/2006/main">
            <a:off x="6572250" y="1809750"/>
            <a:ext cx="4953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Questões abertas</a:t>
            </a:r>
          </a:p>
        </p:txBody>
      </p:sp>
      <p:sp>
        <p:nvSpPr>
          <p:cNvPr id="6" name="Originalidade definitiva&#10;Qualidade julgada por especial">
            <a:extLst xmlns:a="http://schemas.openxmlformats.org/drawingml/2006/main">
              <a:ext uri="{FF2B5EF4-FFF2-40B4-BE49-F238E27FC236}">
                <a16:creationId xmlns:a16="http://schemas.microsoft.com/office/drawing/2014/main" id="{54BD98B8-CC9F-421D-A2C9-B843317CFC73}"/>
              </a:ext>
            </a:extLst>
          </p:cNvPr>
          <p:cNvSpPr>
            <a:spLocks xmlns:a="http://schemas.openxmlformats.org/drawingml/2006/main" noGrp="1"/>
          </p:cNvSpPr>
          <p:nvPr/>
        </p:nvSpPr>
        <p:spPr>
          <a:xfrm xmlns:a="http://schemas.openxmlformats.org/drawingml/2006/main">
            <a:off x="6572250" y="2514600"/>
            <a:ext cx="4953000" cy="261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Originalidade definitiva</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Qualidade julgada por especialistas</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Aprendizagem e ganho de produtividade</a:t>
            </a:r>
          </a:p>
        </p:txBody>
      </p:sp>
    </p:spTree>
    <p:extLst>
      <p:ext uri="{BB962C8B-B14F-4D97-AF65-F5344CB8AC3E}">
        <p14:creationId xmlns:p14="http://schemas.microsoft.com/office/powerpoint/2010/main" val="2099886650"/>
      </p:ext>
    </p:extLst>
  </p:cSld>
</p:sld>
</file>

<file path=ppt/slides/slide17.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8" name="A divisão do trabalho pode mudar">
            <a:extLst xmlns:a="http://schemas.openxmlformats.org/drawingml/2006/main">
              <a:ext uri="{FF2B5EF4-FFF2-40B4-BE49-F238E27FC236}">
                <a16:creationId xmlns:a16="http://schemas.microsoft.com/office/drawing/2014/main" id="{495E8086-988A-4A87-96D5-7DA63B0DB951}"/>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A divisão do trabalho pode mudar</a:t>
            </a:r>
          </a:p>
        </p:txBody>
      </p:sp>
      <p:sp>
        <p:nvSpPr>
          <p:cNvPr id="2" name="17 / 21">
            <a:extLst xmlns:a="http://schemas.openxmlformats.org/drawingml/2006/main">
              <a:ext uri="{FF2B5EF4-FFF2-40B4-BE49-F238E27FC236}">
                <a16:creationId xmlns:a16="http://schemas.microsoft.com/office/drawing/2014/main" id="{CB857A30-CA6D-4C06-9B25-F5CA34311972}"/>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17 / 21</a:t>
            </a:r>
          </a:p>
        </p:txBody>
      </p:sp>
      <p:sp>
        <p:nvSpPr>
          <p:cNvPr id="3" name="Mais capacidade de explorar ideias">
            <a:extLst xmlns:a="http://schemas.openxmlformats.org/drawingml/2006/main">
              <a:ext uri="{FF2B5EF4-FFF2-40B4-BE49-F238E27FC236}">
                <a16:creationId xmlns:a16="http://schemas.microsoft.com/office/drawing/2014/main" id="{0E13F579-0995-4F8A-A818-CD85B05970DE}"/>
              </a:ext>
            </a:extLst>
          </p:cNvPr>
          <p:cNvSpPr>
            <a:spLocks xmlns:a="http://schemas.openxmlformats.org/drawingml/2006/main" noGrp="1"/>
          </p:cNvSpPr>
          <p:nvPr/>
        </p:nvSpPr>
        <p:spPr>
          <a:xfrm xmlns:a="http://schemas.openxmlformats.org/drawingml/2006/main">
            <a:off x="685800" y="1666875"/>
            <a:ext cx="10763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000" b="1">
                <a:solidFill>
                  <a:srgbClr val="17324D"/>
                </a:solidFill>
                <a:latin typeface="Arial"/>
                <a:ea typeface="Arial"/>
                <a:cs typeface="Arial"/>
              </a:defRPr>
            </a:pPr>
            <a:r>
              <a:rPr sz="3000" b="1">
                <a:solidFill>
                  <a:srgbClr val="17324D"/>
                </a:solidFill>
                <a:latin typeface="Arial"/>
                <a:ea typeface="Arial"/>
                <a:cs typeface="Arial"/>
              </a:rPr>
              <a:t>Mais capacidade de explorar ideias</a:t>
            </a:r>
          </a:p>
        </p:txBody>
      </p:sp>
      <p:sp>
        <p:nvSpPr>
          <p:cNvPr id="4" name="Trabalho delegável">
            <a:extLst xmlns:a="http://schemas.openxmlformats.org/drawingml/2006/main">
              <a:ext uri="{FF2B5EF4-FFF2-40B4-BE49-F238E27FC236}">
                <a16:creationId xmlns:a16="http://schemas.microsoft.com/office/drawing/2014/main" id="{2567A355-F5EB-4F5A-841A-5AABA7FA041E}"/>
              </a:ext>
            </a:extLst>
          </p:cNvPr>
          <p:cNvSpPr>
            <a:spLocks xmlns:a="http://schemas.openxmlformats.org/drawingml/2006/main" noGrp="1"/>
          </p:cNvSpPr>
          <p:nvPr/>
        </p:nvSpPr>
        <p:spPr>
          <a:xfrm xmlns:a="http://schemas.openxmlformats.org/drawingml/2006/main">
            <a:off x="685800" y="3238500"/>
            <a:ext cx="4953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Trabalho delegável</a:t>
            </a:r>
          </a:p>
        </p:txBody>
      </p:sp>
      <p:sp>
        <p:nvSpPr>
          <p:cNvPr id="5" name="Primeiras formulações&#10;Código e controles&#10;Organização do">
            <a:extLst xmlns:a="http://schemas.openxmlformats.org/drawingml/2006/main">
              <a:ext uri="{FF2B5EF4-FFF2-40B4-BE49-F238E27FC236}">
                <a16:creationId xmlns:a16="http://schemas.microsoft.com/office/drawing/2014/main" id="{5C20FDF7-5660-45C7-9091-DDA23E990587}"/>
              </a:ext>
            </a:extLst>
          </p:cNvPr>
          <p:cNvSpPr>
            <a:spLocks xmlns:a="http://schemas.openxmlformats.org/drawingml/2006/main" noGrp="1"/>
          </p:cNvSpPr>
          <p:nvPr/>
        </p:nvSpPr>
        <p:spPr>
          <a:xfrm xmlns:a="http://schemas.openxmlformats.org/drawingml/2006/main">
            <a:off x="685800" y="3943350"/>
            <a:ext cx="4953000" cy="261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Primeiras formulações</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Código e controles</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Organização dos resultados</a:t>
            </a:r>
          </a:p>
        </p:txBody>
      </p:sp>
      <p:sp>
        <p:nvSpPr>
          <p:cNvPr id="6" name="Trabalho a avaliar">
            <a:extLst xmlns:a="http://schemas.openxmlformats.org/drawingml/2006/main">
              <a:ext uri="{FF2B5EF4-FFF2-40B4-BE49-F238E27FC236}">
                <a16:creationId xmlns:a16="http://schemas.microsoft.com/office/drawing/2014/main" id="{881FDB17-C7B3-42E9-8D48-616622BB6050}"/>
              </a:ext>
            </a:extLst>
          </p:cNvPr>
          <p:cNvSpPr>
            <a:spLocks xmlns:a="http://schemas.openxmlformats.org/drawingml/2006/main" noGrp="1"/>
          </p:cNvSpPr>
          <p:nvPr/>
        </p:nvSpPr>
        <p:spPr>
          <a:xfrm xmlns:a="http://schemas.openxmlformats.org/drawingml/2006/main">
            <a:off x="6572250" y="3238500"/>
            <a:ext cx="4953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Trabalho a avaliar</a:t>
            </a:r>
          </a:p>
        </p:txBody>
      </p:sp>
      <p:sp>
        <p:nvSpPr>
          <p:cNvPr id="7" name="Escolha da pergunta&#10;Julgamento das evidências&#10;Decisão d">
            <a:extLst xmlns:a="http://schemas.openxmlformats.org/drawingml/2006/main">
              <a:ext uri="{FF2B5EF4-FFF2-40B4-BE49-F238E27FC236}">
                <a16:creationId xmlns:a16="http://schemas.microsoft.com/office/drawing/2014/main" id="{12384AE2-8655-4EB9-830A-E6EB7D11E57C}"/>
              </a:ext>
            </a:extLst>
          </p:cNvPr>
          <p:cNvSpPr>
            <a:spLocks xmlns:a="http://schemas.openxmlformats.org/drawingml/2006/main" noGrp="1"/>
          </p:cNvSpPr>
          <p:nvPr/>
        </p:nvSpPr>
        <p:spPr>
          <a:xfrm xmlns:a="http://schemas.openxmlformats.org/drawingml/2006/main">
            <a:off x="6572250" y="3943350"/>
            <a:ext cx="4953000" cy="261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Escolha da pergunta</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Julgamento das evidências</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Decisão de continuar ou parar</a:t>
            </a:r>
          </a:p>
        </p:txBody>
      </p:sp>
    </p:spTree>
    <p:extLst>
      <p:ext uri="{BB962C8B-B14F-4D97-AF65-F5344CB8AC3E}">
        <p14:creationId xmlns:p14="http://schemas.microsoft.com/office/powerpoint/2010/main" val="1289644275"/>
      </p:ext>
    </p:extLst>
  </p:cSld>
</p:sld>
</file>

<file path=ppt/slides/slide18.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9" name="Formação precisa aparecer no processo">
            <a:extLst xmlns:a="http://schemas.openxmlformats.org/drawingml/2006/main">
              <a:ext uri="{FF2B5EF4-FFF2-40B4-BE49-F238E27FC236}">
                <a16:creationId xmlns:a16="http://schemas.microsoft.com/office/drawing/2014/main" id="{CE069792-5A29-4325-822A-FC8EF2A1A1B2}"/>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Formação precisa aparecer no processo</a:t>
            </a:r>
          </a:p>
        </p:txBody>
      </p:sp>
      <p:sp>
        <p:nvSpPr>
          <p:cNvPr id="2" name="18 / 21">
            <a:extLst xmlns:a="http://schemas.openxmlformats.org/drawingml/2006/main">
              <a:ext uri="{FF2B5EF4-FFF2-40B4-BE49-F238E27FC236}">
                <a16:creationId xmlns:a16="http://schemas.microsoft.com/office/drawing/2014/main" id="{AAAF0863-2BE3-4EFE-B9F4-405D9E359844}"/>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18 / 21</a:t>
            </a:r>
          </a:p>
        </p:txBody>
      </p:sp>
      <p:sp>
        <p:nvSpPr>
          <p:cNvPr id="3" name="Antes de executar">
            <a:extLst xmlns:a="http://schemas.openxmlformats.org/drawingml/2006/main">
              <a:ext uri="{FF2B5EF4-FFF2-40B4-BE49-F238E27FC236}">
                <a16:creationId xmlns:a16="http://schemas.microsoft.com/office/drawing/2014/main" id="{4A722369-42C4-4D72-80BB-25615562B8EB}"/>
              </a:ext>
            </a:extLst>
          </p:cNvPr>
          <p:cNvSpPr>
            <a:spLocks xmlns:a="http://schemas.openxmlformats.org/drawingml/2006/main" noGrp="1"/>
          </p:cNvSpPr>
          <p:nvPr/>
        </p:nvSpPr>
        <p:spPr>
          <a:xfrm xmlns:a="http://schemas.openxmlformats.org/drawingml/2006/main">
            <a:off x="685800" y="1905000"/>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Antes de executar</a:t>
            </a:r>
          </a:p>
        </p:txBody>
      </p:sp>
      <p:sp>
        <p:nvSpPr>
          <p:cNvPr id="4" name="Explicar a hipótese e prever o efeito de uma mudança.">
            <a:extLst xmlns:a="http://schemas.openxmlformats.org/drawingml/2006/main">
              <a:ext uri="{FF2B5EF4-FFF2-40B4-BE49-F238E27FC236}">
                <a16:creationId xmlns:a16="http://schemas.microsoft.com/office/drawing/2014/main" id="{B5BC2A4E-59BF-4260-A18A-FD580A6EBDFE}"/>
              </a:ext>
            </a:extLst>
          </p:cNvPr>
          <p:cNvSpPr>
            <a:spLocks xmlns:a="http://schemas.openxmlformats.org/drawingml/2006/main" noGrp="1"/>
          </p:cNvSpPr>
          <p:nvPr/>
        </p:nvSpPr>
        <p:spPr>
          <a:xfrm xmlns:a="http://schemas.openxmlformats.org/drawingml/2006/main">
            <a:off x="3619500" y="1905000"/>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Explicar a hipótese e prever o efeito de uma mudança.</a:t>
            </a:r>
          </a:p>
        </p:txBody>
      </p:sp>
      <p:sp>
        <p:nvSpPr>
          <p:cNvPr id="5" name="Durante o trabalho">
            <a:extLst xmlns:a="http://schemas.openxmlformats.org/drawingml/2006/main">
              <a:ext uri="{FF2B5EF4-FFF2-40B4-BE49-F238E27FC236}">
                <a16:creationId xmlns:a16="http://schemas.microsoft.com/office/drawing/2014/main" id="{D1082FDE-3F05-4A72-B82F-237728E1C850}"/>
              </a:ext>
            </a:extLst>
          </p:cNvPr>
          <p:cNvSpPr>
            <a:spLocks xmlns:a="http://schemas.openxmlformats.org/drawingml/2006/main" noGrp="1"/>
          </p:cNvSpPr>
          <p:nvPr/>
        </p:nvSpPr>
        <p:spPr>
          <a:xfrm xmlns:a="http://schemas.openxmlformats.org/drawingml/2006/main">
            <a:off x="685800" y="3000375"/>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Durante o trabalho</a:t>
            </a:r>
          </a:p>
        </p:txBody>
      </p:sp>
      <p:sp>
        <p:nvSpPr>
          <p:cNvPr id="6" name="Interpretar controles e justificar escolhas.">
            <a:extLst xmlns:a="http://schemas.openxmlformats.org/drawingml/2006/main">
              <a:ext uri="{FF2B5EF4-FFF2-40B4-BE49-F238E27FC236}">
                <a16:creationId xmlns:a16="http://schemas.microsoft.com/office/drawing/2014/main" id="{8E271438-EB1A-4B1F-9D36-C1281A4FD342}"/>
              </a:ext>
            </a:extLst>
          </p:cNvPr>
          <p:cNvSpPr>
            <a:spLocks xmlns:a="http://schemas.openxmlformats.org/drawingml/2006/main" noGrp="1"/>
          </p:cNvSpPr>
          <p:nvPr/>
        </p:nvSpPr>
        <p:spPr>
          <a:xfrm xmlns:a="http://schemas.openxmlformats.org/drawingml/2006/main">
            <a:off x="3619500" y="3000375"/>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Interpretar controles e justificar escolhas.</a:t>
            </a:r>
          </a:p>
        </p:txBody>
      </p:sp>
      <p:sp>
        <p:nvSpPr>
          <p:cNvPr id="7" name="Ao concluir">
            <a:extLst xmlns:a="http://schemas.openxmlformats.org/drawingml/2006/main">
              <a:ext uri="{FF2B5EF4-FFF2-40B4-BE49-F238E27FC236}">
                <a16:creationId xmlns:a16="http://schemas.microsoft.com/office/drawing/2014/main" id="{020A4B0F-02A1-4355-B6D9-E1E31D395BE0}"/>
              </a:ext>
            </a:extLst>
          </p:cNvPr>
          <p:cNvSpPr>
            <a:spLocks xmlns:a="http://schemas.openxmlformats.org/drawingml/2006/main" noGrp="1"/>
          </p:cNvSpPr>
          <p:nvPr/>
        </p:nvSpPr>
        <p:spPr>
          <a:xfrm xmlns:a="http://schemas.openxmlformats.org/drawingml/2006/main">
            <a:off x="685800" y="4095750"/>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Ao concluir</a:t>
            </a:r>
          </a:p>
        </p:txBody>
      </p:sp>
      <p:sp>
        <p:nvSpPr>
          <p:cNvPr id="8" name="Reconstruir o argumento e responder por seus limites.">
            <a:extLst xmlns:a="http://schemas.openxmlformats.org/drawingml/2006/main">
              <a:ext uri="{FF2B5EF4-FFF2-40B4-BE49-F238E27FC236}">
                <a16:creationId xmlns:a16="http://schemas.microsoft.com/office/drawing/2014/main" id="{1768FA6E-B6DC-4B6C-A0C1-30DFEC2A81C6}"/>
              </a:ext>
            </a:extLst>
          </p:cNvPr>
          <p:cNvSpPr>
            <a:spLocks xmlns:a="http://schemas.openxmlformats.org/drawingml/2006/main" noGrp="1"/>
          </p:cNvSpPr>
          <p:nvPr/>
        </p:nvSpPr>
        <p:spPr>
          <a:xfrm xmlns:a="http://schemas.openxmlformats.org/drawingml/2006/main">
            <a:off x="3619500" y="4095750"/>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Reconstruir o argumento e responder por seus limites.</a:t>
            </a:r>
          </a:p>
        </p:txBody>
      </p:sp>
    </p:spTree>
    <p:extLst>
      <p:ext uri="{BB962C8B-B14F-4D97-AF65-F5344CB8AC3E}">
        <p14:creationId xmlns:p14="http://schemas.microsoft.com/office/powerpoint/2010/main" val="520568925"/>
      </p:ext>
    </p:extLst>
  </p:cSld>
</p:sld>
</file>

<file path=ppt/slides/slide19.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6" name="Relevância e capacidade de revisão">
            <a:extLst xmlns:a="http://schemas.openxmlformats.org/drawingml/2006/main">
              <a:ext uri="{FF2B5EF4-FFF2-40B4-BE49-F238E27FC236}">
                <a16:creationId xmlns:a16="http://schemas.microsoft.com/office/drawing/2014/main" id="{E01FDCEA-F9D3-4988-B303-F36242CFDEAE}"/>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Relevância e capacidade de revisão</a:t>
            </a:r>
          </a:p>
        </p:txBody>
      </p:sp>
      <p:sp>
        <p:nvSpPr>
          <p:cNvPr id="2" name="19 / 21">
            <a:extLst xmlns:a="http://schemas.openxmlformats.org/drawingml/2006/main">
              <a:ext uri="{FF2B5EF4-FFF2-40B4-BE49-F238E27FC236}">
                <a16:creationId xmlns:a16="http://schemas.microsoft.com/office/drawing/2014/main" id="{698D4641-2973-41CA-A95D-2CDD2544BBA2}"/>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19 / 21</a:t>
            </a:r>
          </a:p>
        </p:txBody>
      </p:sp>
      <p:sp>
        <p:nvSpPr>
          <p:cNvPr id="3" name="Mais resultados exigem mais capacidade de julgar o que ">
            <a:extLst xmlns:a="http://schemas.openxmlformats.org/drawingml/2006/main">
              <a:ext uri="{FF2B5EF4-FFF2-40B4-BE49-F238E27FC236}">
                <a16:creationId xmlns:a16="http://schemas.microsoft.com/office/drawing/2014/main" id="{BC1CD857-9E00-4BB9-97EA-B7E1CF2D67D7}"/>
              </a:ext>
            </a:extLst>
          </p:cNvPr>
          <p:cNvSpPr>
            <a:spLocks xmlns:a="http://schemas.openxmlformats.org/drawingml/2006/main" noGrp="1"/>
          </p:cNvSpPr>
          <p:nvPr/>
        </p:nvSpPr>
        <p:spPr>
          <a:xfrm xmlns:a="http://schemas.openxmlformats.org/drawingml/2006/main">
            <a:off x="685800" y="1666875"/>
            <a:ext cx="10763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000" b="1">
                <a:solidFill>
                  <a:srgbClr val="17324D"/>
                </a:solidFill>
                <a:latin typeface="Arial"/>
                <a:ea typeface="Arial"/>
                <a:cs typeface="Arial"/>
              </a:defRPr>
            </a:pPr>
            <a:r>
              <a:rPr sz="3000" b="1">
                <a:solidFill>
                  <a:srgbClr val="17324D"/>
                </a:solidFill>
                <a:latin typeface="Arial"/>
                <a:ea typeface="Arial"/>
                <a:cs typeface="Arial"/>
              </a:rPr>
              <a:t>Mais resultados exigem mais capacidade de julgar o que importa</a:t>
            </a:r>
          </a:p>
        </p:txBody>
      </p:sp>
      <p:sp>
        <p:nvSpPr>
          <p:cNvPr id="4" name="Uma contribuição pode valer pela pergunta que resolve, ">
            <a:extLst xmlns:a="http://schemas.openxmlformats.org/drawingml/2006/main">
              <a:ext uri="{FF2B5EF4-FFF2-40B4-BE49-F238E27FC236}">
                <a16:creationId xmlns:a16="http://schemas.microsoft.com/office/drawing/2014/main" id="{E07E5709-0467-4E0F-91D2-C4B90C3A8129}"/>
              </a:ext>
            </a:extLst>
          </p:cNvPr>
          <p:cNvSpPr>
            <a:spLocks xmlns:a="http://schemas.openxmlformats.org/drawingml/2006/main" noGrp="1"/>
          </p:cNvSpPr>
          <p:nvPr/>
        </p:nvSpPr>
        <p:spPr>
          <a:xfrm xmlns:a="http://schemas.openxmlformats.org/drawingml/2006/main">
            <a:off x="685800" y="3524250"/>
            <a:ext cx="10287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700" b="0">
                <a:solidFill>
                  <a:srgbClr val="253643"/>
                </a:solidFill>
                <a:latin typeface="Arial"/>
                <a:ea typeface="Arial"/>
                <a:cs typeface="Arial"/>
              </a:defRPr>
            </a:pPr>
            <a:r>
              <a:rPr sz="2700" b="0">
                <a:solidFill>
                  <a:srgbClr val="253643"/>
                </a:solidFill>
                <a:latin typeface="Arial"/>
                <a:ea typeface="Arial"/>
                <a:cs typeface="Arial"/>
              </a:rPr>
              <a:t>Uma contribuição pode valer pela pergunta que resolve, pela incerteza que elimina ou pelo limite que estabelece.</a:t>
            </a:r>
          </a:p>
        </p:txBody>
      </p:sp>
      <p:sp>
        <p:nvSpPr>
          <p:cNvPr id="5" name="Contagem de artigos e volume de código não substituem e">
            <a:extLst xmlns:a="http://schemas.openxmlformats.org/drawingml/2006/main">
              <a:ext uri="{FF2B5EF4-FFF2-40B4-BE49-F238E27FC236}">
                <a16:creationId xmlns:a16="http://schemas.microsoft.com/office/drawing/2014/main" id="{6F2B8BA6-5D2C-4C31-935D-C95E88FD878B}"/>
              </a:ext>
            </a:extLst>
          </p:cNvPr>
          <p:cNvSpPr>
            <a:spLocks xmlns:a="http://schemas.openxmlformats.org/drawingml/2006/main" noGrp="1"/>
          </p:cNvSpPr>
          <p:nvPr/>
        </p:nvSpPr>
        <p:spPr>
          <a:xfrm xmlns:a="http://schemas.openxmlformats.org/drawingml/2006/main">
            <a:off x="685800" y="5524500"/>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B35B32"/>
                </a:solidFill>
                <a:latin typeface="Arial"/>
                <a:ea typeface="Arial"/>
                <a:cs typeface="Arial"/>
              </a:defRPr>
            </a:pPr>
            <a:r>
              <a:rPr sz="2025" b="0">
                <a:solidFill>
                  <a:srgbClr val="B35B32"/>
                </a:solidFill>
                <a:latin typeface="Arial"/>
                <a:ea typeface="Arial"/>
                <a:cs typeface="Arial"/>
              </a:rPr>
              <a:t>Contagem de artigos e volume de código não substituem essa avaliação.</a:t>
            </a:r>
          </a:p>
        </p:txBody>
      </p:sp>
    </p:spTree>
    <p:extLst>
      <p:ext uri="{BB962C8B-B14F-4D97-AF65-F5344CB8AC3E}">
        <p14:creationId xmlns:p14="http://schemas.microsoft.com/office/powerpoint/2010/main" val="696630516"/>
      </p:ext>
    </p:extLst>
  </p:cSld>
</p:sld>
</file>

<file path=ppt/slides/slide20.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9" name="Próximas avaliações do experimento">
            <a:extLst xmlns:a="http://schemas.openxmlformats.org/drawingml/2006/main">
              <a:ext uri="{FF2B5EF4-FFF2-40B4-BE49-F238E27FC236}">
                <a16:creationId xmlns:a16="http://schemas.microsoft.com/office/drawing/2014/main" id="{317BF4DF-8F06-4C33-B477-B5D25874B137}"/>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Próximas avaliações do experimento</a:t>
            </a:r>
          </a:p>
        </p:txBody>
      </p:sp>
      <p:sp>
        <p:nvSpPr>
          <p:cNvPr id="2" name="20 / 21">
            <a:extLst xmlns:a="http://schemas.openxmlformats.org/drawingml/2006/main">
              <a:ext uri="{FF2B5EF4-FFF2-40B4-BE49-F238E27FC236}">
                <a16:creationId xmlns:a16="http://schemas.microsoft.com/office/drawing/2014/main" id="{22185F17-7D58-4D39-A35B-FE264BE5AB7A}"/>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20 / 21</a:t>
            </a:r>
          </a:p>
        </p:txBody>
      </p:sp>
      <p:sp>
        <p:nvSpPr>
          <p:cNvPr id="3" name="Qualidade científica">
            <a:extLst xmlns:a="http://schemas.openxmlformats.org/drawingml/2006/main">
              <a:ext uri="{FF2B5EF4-FFF2-40B4-BE49-F238E27FC236}">
                <a16:creationId xmlns:a16="http://schemas.microsoft.com/office/drawing/2014/main" id="{C01132EB-5678-41D3-B9FD-70614DE25005}"/>
              </a:ext>
            </a:extLst>
          </p:cNvPr>
          <p:cNvSpPr>
            <a:spLocks xmlns:a="http://schemas.openxmlformats.org/drawingml/2006/main" noGrp="1"/>
          </p:cNvSpPr>
          <p:nvPr/>
        </p:nvSpPr>
        <p:spPr>
          <a:xfrm xmlns:a="http://schemas.openxmlformats.org/drawingml/2006/main">
            <a:off x="685800" y="1905000"/>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Qualidade científica</a:t>
            </a:r>
          </a:p>
        </p:txBody>
      </p:sp>
      <p:sp>
        <p:nvSpPr>
          <p:cNvPr id="4" name="Especialistas examinam as conclusões centrais.">
            <a:extLst xmlns:a="http://schemas.openxmlformats.org/drawingml/2006/main">
              <a:ext uri="{FF2B5EF4-FFF2-40B4-BE49-F238E27FC236}">
                <a16:creationId xmlns:a16="http://schemas.microsoft.com/office/drawing/2014/main" id="{F930E53C-09E8-4614-9978-5D6316C80687}"/>
              </a:ext>
            </a:extLst>
          </p:cNvPr>
          <p:cNvSpPr>
            <a:spLocks xmlns:a="http://schemas.openxmlformats.org/drawingml/2006/main" noGrp="1"/>
          </p:cNvSpPr>
          <p:nvPr/>
        </p:nvSpPr>
        <p:spPr>
          <a:xfrm xmlns:a="http://schemas.openxmlformats.org/drawingml/2006/main">
            <a:off x="3619500" y="1905000"/>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Especialistas examinam as conclusões centrais.</a:t>
            </a:r>
          </a:p>
        </p:txBody>
      </p:sp>
      <p:sp>
        <p:nvSpPr>
          <p:cNvPr id="5" name="Efeito da revisão">
            <a:extLst xmlns:a="http://schemas.openxmlformats.org/drawingml/2006/main">
              <a:ext uri="{FF2B5EF4-FFF2-40B4-BE49-F238E27FC236}">
                <a16:creationId xmlns:a16="http://schemas.microsoft.com/office/drawing/2014/main" id="{E9ACCB9A-62DD-461E-887A-40F0F4B265BF}"/>
              </a:ext>
            </a:extLst>
          </p:cNvPr>
          <p:cNvSpPr>
            <a:spLocks xmlns:a="http://schemas.openxmlformats.org/drawingml/2006/main" noGrp="1"/>
          </p:cNvSpPr>
          <p:nvPr/>
        </p:nvSpPr>
        <p:spPr>
          <a:xfrm xmlns:a="http://schemas.openxmlformats.org/drawingml/2006/main">
            <a:off x="685800" y="3000375"/>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Efeito da revisão</a:t>
            </a:r>
          </a:p>
        </p:txBody>
      </p:sp>
      <p:sp>
        <p:nvSpPr>
          <p:cNvPr id="6" name="Comparação cega entre versões do manuscrito.">
            <a:extLst xmlns:a="http://schemas.openxmlformats.org/drawingml/2006/main">
              <a:ext uri="{FF2B5EF4-FFF2-40B4-BE49-F238E27FC236}">
                <a16:creationId xmlns:a16="http://schemas.microsoft.com/office/drawing/2014/main" id="{35E60D50-D2AF-4518-B010-9340127F500B}"/>
              </a:ext>
            </a:extLst>
          </p:cNvPr>
          <p:cNvSpPr>
            <a:spLocks xmlns:a="http://schemas.openxmlformats.org/drawingml/2006/main" noGrp="1"/>
          </p:cNvSpPr>
          <p:nvPr/>
        </p:nvSpPr>
        <p:spPr>
          <a:xfrm xmlns:a="http://schemas.openxmlformats.org/drawingml/2006/main">
            <a:off x="3619500" y="3000375"/>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Comparação cega entre versões do manuscrito.</a:t>
            </a:r>
          </a:p>
        </p:txBody>
      </p:sp>
      <p:sp>
        <p:nvSpPr>
          <p:cNvPr id="7" name="Formação e custo">
            <a:extLst xmlns:a="http://schemas.openxmlformats.org/drawingml/2006/main">
              <a:ext uri="{FF2B5EF4-FFF2-40B4-BE49-F238E27FC236}">
                <a16:creationId xmlns:a16="http://schemas.microsoft.com/office/drawing/2014/main" id="{BBCEA082-3894-45A6-A1DE-4A839DDF399E}"/>
              </a:ext>
            </a:extLst>
          </p:cNvPr>
          <p:cNvSpPr>
            <a:spLocks xmlns:a="http://schemas.openxmlformats.org/drawingml/2006/main" noGrp="1"/>
          </p:cNvSpPr>
          <p:nvPr/>
        </p:nvSpPr>
        <p:spPr>
          <a:xfrm xmlns:a="http://schemas.openxmlformats.org/drawingml/2006/main">
            <a:off x="685800" y="4095750"/>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Formação e custo</a:t>
            </a:r>
          </a:p>
        </p:txBody>
      </p:sp>
      <p:sp>
        <p:nvSpPr>
          <p:cNvPr id="8" name="Medidas de compreensão e esforço total de verificação.">
            <a:extLst xmlns:a="http://schemas.openxmlformats.org/drawingml/2006/main">
              <a:ext uri="{FF2B5EF4-FFF2-40B4-BE49-F238E27FC236}">
                <a16:creationId xmlns:a16="http://schemas.microsoft.com/office/drawing/2014/main" id="{C933E2D5-9F1A-4DA8-8C11-D0DFA95E2230}"/>
              </a:ext>
            </a:extLst>
          </p:cNvPr>
          <p:cNvSpPr>
            <a:spLocks xmlns:a="http://schemas.openxmlformats.org/drawingml/2006/main" noGrp="1"/>
          </p:cNvSpPr>
          <p:nvPr/>
        </p:nvSpPr>
        <p:spPr>
          <a:xfrm xmlns:a="http://schemas.openxmlformats.org/drawingml/2006/main">
            <a:off x="3619500" y="4095750"/>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Medidas de compreensão e esforço total de verificação.</a:t>
            </a:r>
          </a:p>
        </p:txBody>
      </p:sp>
    </p:spTree>
    <p:extLst>
      <p:ext uri="{BB962C8B-B14F-4D97-AF65-F5344CB8AC3E}">
        <p14:creationId xmlns:p14="http://schemas.microsoft.com/office/powerpoint/2010/main" val="668196642"/>
      </p:ext>
    </p:extLst>
  </p:cSld>
</p:sld>
</file>

<file path=ppt/slides/slide21.xml><?xml version="1.0" encoding="utf-8"?>
<p:sld xmlns:p="http://schemas.openxmlformats.org/presentationml/2006/main">
  <p:cSld>
    <p:bg>
      <p:bgPr>
        <a:solidFill xmlns:a="http://schemas.openxmlformats.org/drawingml/2006/main">
          <a:srgbClr val="17324D"/>
        </a:solidFill>
      </p:bgPr>
    </p:bg>
    <p:spTree>
      <p:nvGrpSpPr>
        <p:cNvPr id="1" name=""/>
        <p:cNvGrpSpPr/>
        <p:nvPr/>
      </p:nvGrpSpPr>
      <p:grpSpPr>
        <a:xfrm xmlns:a="http://schemas.openxmlformats.org/drawingml/2006/main"/>
      </p:grpSpPr>
      <p:sp>
        <p:nvSpPr>
          <p:cNvPr id="6" name="Questões para discussão">
            <a:extLst xmlns:a="http://schemas.openxmlformats.org/drawingml/2006/main">
              <a:ext uri="{FF2B5EF4-FFF2-40B4-BE49-F238E27FC236}">
                <a16:creationId xmlns:a16="http://schemas.microsoft.com/office/drawing/2014/main" id="{67129809-506E-42C4-B074-8AFA5AF79ADC}"/>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Questões para discussão</a:t>
            </a:r>
          </a:p>
        </p:txBody>
      </p:sp>
      <p:sp>
        <p:nvSpPr>
          <p:cNvPr id="2" name="21 / 21">
            <a:extLst xmlns:a="http://schemas.openxmlformats.org/drawingml/2006/main">
              <a:ext uri="{FF2B5EF4-FFF2-40B4-BE49-F238E27FC236}">
                <a16:creationId xmlns:a16="http://schemas.microsoft.com/office/drawing/2014/main" id="{8A1BE968-16B7-43C7-839B-8A5E29B58CD7}"/>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B6CCD8"/>
                </a:solidFill>
                <a:latin typeface="Arial"/>
                <a:ea typeface="Arial"/>
                <a:cs typeface="Arial"/>
              </a:defRPr>
            </a:pPr>
            <a:r>
              <a:rPr sz="1275" b="0">
                <a:solidFill>
                  <a:srgbClr val="B6CCD8"/>
                </a:solidFill>
                <a:latin typeface="Arial"/>
                <a:ea typeface="Arial"/>
                <a:cs typeface="Arial"/>
              </a:rPr>
              <a:t>21 / 21</a:t>
            </a:r>
          </a:p>
        </p:txBody>
      </p:sp>
      <p:sp>
        <p:nvSpPr>
          <p:cNvPr id="3" name="Que competências precisam&#10;ser demonstradas pessoalmente">
            <a:extLst xmlns:a="http://schemas.openxmlformats.org/drawingml/2006/main">
              <a:ext uri="{FF2B5EF4-FFF2-40B4-BE49-F238E27FC236}">
                <a16:creationId xmlns:a16="http://schemas.microsoft.com/office/drawing/2014/main" id="{526D53F0-EE75-495A-B468-38C8488BF28F}"/>
              </a:ext>
            </a:extLst>
          </p:cNvPr>
          <p:cNvSpPr>
            <a:spLocks xmlns:a="http://schemas.openxmlformats.org/drawingml/2006/main" noGrp="1"/>
          </p:cNvSpPr>
          <p:nvPr/>
        </p:nvSpPr>
        <p:spPr>
          <a:xfrm xmlns:a="http://schemas.openxmlformats.org/drawingml/2006/main">
            <a:off x="685800" y="1857375"/>
            <a:ext cx="10763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Que competências precisam</a:t>
            </a:r>
          </a:p>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ser demonstradas pessoalmente?</a:t>
            </a:r>
          </a:p>
        </p:txBody>
      </p:sp>
      <p:sp>
        <p:nvSpPr>
          <p:cNvPr id="4" name="Que perguntas passam a valer a pena&#10;quando executar cus">
            <a:extLst xmlns:a="http://schemas.openxmlformats.org/drawingml/2006/main">
              <a:ext uri="{FF2B5EF4-FFF2-40B4-BE49-F238E27FC236}">
                <a16:creationId xmlns:a16="http://schemas.microsoft.com/office/drawing/2014/main" id="{D031BE0B-E650-4019-B30A-58C957982E3C}"/>
              </a:ext>
            </a:extLst>
          </p:cNvPr>
          <p:cNvSpPr>
            <a:spLocks xmlns:a="http://schemas.openxmlformats.org/drawingml/2006/main" noGrp="1"/>
          </p:cNvSpPr>
          <p:nvPr/>
        </p:nvSpPr>
        <p:spPr>
          <a:xfrm xmlns:a="http://schemas.openxmlformats.org/drawingml/2006/main">
            <a:off x="685800" y="3381375"/>
            <a:ext cx="10763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000" b="0">
                <a:solidFill>
                  <a:srgbClr val="FFFFFF"/>
                </a:solidFill>
                <a:latin typeface="Arial"/>
                <a:ea typeface="Arial"/>
                <a:cs typeface="Arial"/>
              </a:defRPr>
            </a:pPr>
            <a:r>
              <a:rPr sz="3000" b="0">
                <a:solidFill>
                  <a:srgbClr val="FFFFFF"/>
                </a:solidFill>
                <a:latin typeface="Arial"/>
                <a:ea typeface="Arial"/>
                <a:cs typeface="Arial"/>
              </a:rPr>
              <a:t>Que perguntas passam a valer a pena</a:t>
            </a:r>
          </a:p>
          <a:p xmlns:a="http://schemas.openxmlformats.org/drawingml/2006/main">
            <a:pPr>
              <a:defRPr sz="3000" b="0">
                <a:solidFill>
                  <a:srgbClr val="FFFFFF"/>
                </a:solidFill>
                <a:latin typeface="Arial"/>
                <a:ea typeface="Arial"/>
                <a:cs typeface="Arial"/>
              </a:defRPr>
            </a:pPr>
            <a:r>
              <a:rPr sz="3000" b="0">
                <a:solidFill>
                  <a:srgbClr val="FFFFFF"/>
                </a:solidFill>
                <a:latin typeface="Arial"/>
                <a:ea typeface="Arial"/>
                <a:cs typeface="Arial"/>
              </a:rPr>
              <a:t>quando executar custa menos?</a:t>
            </a:r>
          </a:p>
        </p:txBody>
      </p:sp>
      <p:sp>
        <p:nvSpPr>
          <p:cNvPr id="5" name="Como repartir o esforço de verificar?">
            <a:extLst xmlns:a="http://schemas.openxmlformats.org/drawingml/2006/main">
              <a:ext uri="{FF2B5EF4-FFF2-40B4-BE49-F238E27FC236}">
                <a16:creationId xmlns:a16="http://schemas.microsoft.com/office/drawing/2014/main" id="{D1C80212-60D9-4E33-BF98-613D3140CB3C}"/>
              </a:ext>
            </a:extLst>
          </p:cNvPr>
          <p:cNvSpPr>
            <a:spLocks xmlns:a="http://schemas.openxmlformats.org/drawingml/2006/main" noGrp="1"/>
          </p:cNvSpPr>
          <p:nvPr/>
        </p:nvSpPr>
        <p:spPr>
          <a:xfrm xmlns:a="http://schemas.openxmlformats.org/drawingml/2006/main">
            <a:off x="685800" y="5000625"/>
            <a:ext cx="10763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000" b="0">
                <a:solidFill>
                  <a:srgbClr val="B8DCE1"/>
                </a:solidFill>
                <a:latin typeface="Arial"/>
                <a:ea typeface="Arial"/>
                <a:cs typeface="Arial"/>
              </a:defRPr>
            </a:pPr>
            <a:r>
              <a:rPr sz="3000" b="0">
                <a:solidFill>
                  <a:srgbClr val="B8DCE1"/>
                </a:solidFill>
                <a:latin typeface="Arial"/>
                <a:ea typeface="Arial"/>
                <a:cs typeface="Arial"/>
              </a:rPr>
              <a:t>Como repartir o esforço de verificar?</a:t>
            </a:r>
          </a:p>
        </p:txBody>
      </p:sp>
    </p:spTree>
    <p:extLst>
      <p:ext uri="{BB962C8B-B14F-4D97-AF65-F5344CB8AC3E}">
        <p14:creationId xmlns:p14="http://schemas.microsoft.com/office/powerpoint/2010/main" val="623339350"/>
      </p:ext>
    </p:extLst>
  </p:cSld>
</p:sld>
</file>

<file path=ppt/slides/slide22.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4" name="Apoio: leitura correta das métricas">
            <a:extLst xmlns:a="http://schemas.openxmlformats.org/drawingml/2006/main">
              <a:ext uri="{FF2B5EF4-FFF2-40B4-BE49-F238E27FC236}">
                <a16:creationId xmlns:a16="http://schemas.microsoft.com/office/drawing/2014/main" id="{ECE93AF4-EC37-41AE-BB1D-9F6263D1245E}"/>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Apoio: leitura correta das métricas</a:t>
            </a:r>
          </a:p>
        </p:txBody>
      </p:sp>
      <p:sp>
        <p:nvSpPr>
          <p:cNvPr id="2" name="Apoio">
            <a:extLst xmlns:a="http://schemas.openxmlformats.org/drawingml/2006/main">
              <a:ext uri="{FF2B5EF4-FFF2-40B4-BE49-F238E27FC236}">
                <a16:creationId xmlns:a16="http://schemas.microsoft.com/office/drawing/2014/main" id="{E36B91C1-7B60-4588-B8B8-53717A150D7D}"/>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Apoio</a:t>
            </a:r>
          </a:p>
        </p:txBody>
      </p:sp>
      <p:graphicFrame>
        <p:nvGraphicFramePr>
          <p:cNvPr id="6" name=""/>
          <p:cNvGraphicFramePr/>
          <p:nvPr/>
        </p:nvGraphicFramePr>
        <p:xfrm>
          <a:off xmlns:a="http://schemas.openxmlformats.org/drawingml/2006/main" x="685800" y="1743075"/>
          <a:ext xmlns:a="http://schemas.openxmlformats.org/drawingml/2006/main" cx="10820400" cy="3476625"/>
        </p:xfrm>
        <a:graphic xmlns:a="http://schemas.openxmlformats.org/drawingml/2006/main">
          <a:graphicData uri="http://schemas.openxmlformats.org/drawingml/2006/table">
            <a:tbl>
              <a:tblPr/>
              <a:tblGrid>
                <a:gridCol w="3143250"/>
                <a:gridCol w="7677150"/>
              </a:tblGrid>
              <a:tr h="695325">
                <a:tc>
                  <a:txBody>
                    <a:bodyPr lIns="133350" tIns="114300" rIns="133350" bIns="76200"/>
                    <a:lstStyle/>
                    <a:p>
                      <a:r>
                        <a:rPr sz="1875" b="1">
                          <a:solidFill>
                            <a:srgbClr val="FFFFFF"/>
                          </a:solidFill>
                          <a:latin typeface="Arial"/>
                          <a:ea typeface="Arial"/>
                          <a:cs typeface="Arial"/>
                        </a:rPr>
                        <a:t>Medida</a:t>
                      </a:r>
                    </a:p>
                  </a:txBody>
                  <a:tcPr marL="91440" marR="91440" marT="45720" marB="45720">
                    <a:solidFill>
                      <a:srgbClr val="17324D"/>
                    </a:solidFill>
                  </a:tcPr>
                </a:tc>
                <a:tc>
                  <a:txBody>
                    <a:bodyPr lIns="133350" tIns="114300" rIns="133350" bIns="76200"/>
                    <a:lstStyle/>
                    <a:p>
                      <a:r>
                        <a:rPr sz="1875" b="1">
                          <a:solidFill>
                            <a:srgbClr val="FFFFFF"/>
                          </a:solidFill>
                          <a:latin typeface="Arial"/>
                          <a:ea typeface="Arial"/>
                          <a:cs typeface="Arial"/>
                        </a:rPr>
                        <a:t>Definição</a:t>
                      </a:r>
                    </a:p>
                  </a:txBody>
                  <a:tcPr marL="91440" marR="91440" marT="45720" marB="45720">
                    <a:solidFill>
                      <a:srgbClr val="17324D"/>
                    </a:solidFill>
                  </a:tcPr>
                </a:tc>
              </a:tr>
              <a:tr h="695325">
                <a:tc>
                  <a:txBody>
                    <a:bodyPr lIns="133350" tIns="114300" rIns="133350" bIns="76200"/>
                    <a:lstStyle/>
                    <a:p>
                      <a:r>
                        <a:rPr sz="1875" b="0">
                          <a:solidFill>
                            <a:srgbClr val="253643"/>
                          </a:solidFill>
                          <a:latin typeface="Arial"/>
                          <a:ea typeface="Arial"/>
                          <a:cs typeface="Arial"/>
                        </a:rPr>
                        <a:t>26.069 linhas</a:t>
                      </a:r>
                    </a:p>
                  </a:txBody>
                  <a:tcPr marL="91440" marR="91440" marT="45720" marB="45720">
                    <a:solidFill>
                      <a:srgbClr val="F7F5F0"/>
                    </a:solidFill>
                  </a:tcPr>
                </a:tc>
                <a:tc>
                  <a:txBody>
                    <a:bodyPr lIns="133350" tIns="114300" rIns="133350" bIns="76200"/>
                    <a:lstStyle/>
                    <a:p>
                      <a:r>
                        <a:rPr sz="1875" b="0">
                          <a:solidFill>
                            <a:srgbClr val="253643"/>
                          </a:solidFill>
                          <a:latin typeface="Arial"/>
                          <a:ea typeface="Arial"/>
                          <a:cs typeface="Arial"/>
                        </a:rPr>
                        <a:t>Módulos, scripts e testes, com linhas vazias</a:t>
                      </a:r>
                    </a:p>
                  </a:txBody>
                  <a:tcPr marL="91440" marR="91440" marT="45720" marB="45720">
                    <a:solidFill>
                      <a:srgbClr val="F7F5F0"/>
                    </a:solidFill>
                  </a:tcPr>
                </a:tc>
              </a:tr>
              <a:tr h="695325">
                <a:tc>
                  <a:txBody>
                    <a:bodyPr lIns="133350" tIns="114300" rIns="133350" bIns="76200"/>
                    <a:lstStyle/>
                    <a:p>
                      <a:r>
                        <a:rPr sz="1875" b="0">
                          <a:solidFill>
                            <a:srgbClr val="253643"/>
                          </a:solidFill>
                          <a:latin typeface="Arial"/>
                          <a:ea typeface="Arial"/>
                          <a:cs typeface="Arial"/>
                        </a:rPr>
                        <a:t>91.347 linhas</a:t>
                      </a:r>
                    </a:p>
                  </a:txBody>
                  <a:tcPr marL="91440" marR="91440" marT="45720" marB="45720">
                    <a:solidFill>
                      <a:srgbClr val="F7F5F0"/>
                    </a:solidFill>
                  </a:tcPr>
                </a:tc>
                <a:tc>
                  <a:txBody>
                    <a:bodyPr lIns="133350" tIns="114300" rIns="133350" bIns="76200"/>
                    <a:lstStyle/>
                    <a:p>
                      <a:r>
                        <a:rPr sz="1875" b="0">
                          <a:solidFill>
                            <a:srgbClr val="253643"/>
                          </a:solidFill>
                          <a:latin typeface="Arial"/>
                          <a:ea typeface="Arial"/>
                          <a:cs typeface="Arial"/>
                        </a:rPr>
                        <a:t>Inclui código arquivado e cópias, sem deduplicação</a:t>
                      </a:r>
                    </a:p>
                  </a:txBody>
                  <a:tcPr marL="91440" marR="91440" marT="45720" marB="45720">
                    <a:solidFill>
                      <a:srgbClr val="F7F5F0"/>
                    </a:solidFill>
                  </a:tcPr>
                </a:tc>
              </a:tr>
              <a:tr h="695325">
                <a:tc>
                  <a:txBody>
                    <a:bodyPr lIns="133350" tIns="114300" rIns="133350" bIns="76200"/>
                    <a:lstStyle/>
                    <a:p>
                      <a:r>
                        <a:rPr sz="1875" b="0">
                          <a:solidFill>
                            <a:srgbClr val="253643"/>
                          </a:solidFill>
                          <a:latin typeface="Arial"/>
                          <a:ea typeface="Arial"/>
                          <a:cs typeface="Arial"/>
                        </a:rPr>
                        <a:t>45.528 análises</a:t>
                      </a:r>
                    </a:p>
                  </a:txBody>
                  <a:tcPr marL="91440" marR="91440" marT="45720" marB="45720">
                    <a:solidFill>
                      <a:srgbClr val="F7F5F0"/>
                    </a:solidFill>
                  </a:tcPr>
                </a:tc>
                <a:tc>
                  <a:txBody>
                    <a:bodyPr lIns="133350" tIns="114300" rIns="133350" bIns="76200"/>
                    <a:lstStyle/>
                    <a:p>
                      <a:r>
                        <a:rPr sz="1875" b="0">
                          <a:solidFill>
                            <a:srgbClr val="253643"/>
                          </a:solidFill>
                          <a:latin typeface="Arial"/>
                          <a:ea typeface="Arial"/>
                          <a:cs typeface="Arial"/>
                        </a:rPr>
                        <a:t>Quatro campanhas, com dados compartilhados</a:t>
                      </a:r>
                    </a:p>
                  </a:txBody>
                  <a:tcPr marL="91440" marR="91440" marT="45720" marB="45720">
                    <a:solidFill>
                      <a:srgbClr val="F7F5F0"/>
                    </a:solidFill>
                  </a:tcPr>
                </a:tc>
              </a:tr>
              <a:tr h="695325">
                <a:tc>
                  <a:txBody>
                    <a:bodyPr lIns="133350" tIns="114300" rIns="133350" bIns="76200"/>
                    <a:lstStyle/>
                    <a:p>
                      <a:r>
                        <a:rPr sz="1875" b="0">
                          <a:solidFill>
                            <a:srgbClr val="253643"/>
                          </a:solidFill>
                          <a:latin typeface="Arial"/>
                          <a:ea typeface="Arial"/>
                          <a:cs typeface="Arial"/>
                        </a:rPr>
                        <a:t>25.719.766 tokens</a:t>
                      </a:r>
                    </a:p>
                  </a:txBody>
                  <a:tcPr marL="91440" marR="91440" marT="45720" marB="45720">
                    <a:solidFill>
                      <a:srgbClr val="F7F5F0"/>
                    </a:solidFill>
                  </a:tcPr>
                </a:tc>
                <a:tc>
                  <a:txBody>
                    <a:bodyPr lIns="133350" tIns="114300" rIns="133350" bIns="76200"/>
                    <a:lstStyle/>
                    <a:p>
                      <a:r>
                        <a:rPr sz="1875" b="0">
                          <a:solidFill>
                            <a:srgbClr val="253643"/>
                          </a:solidFill>
                          <a:latin typeface="Arial"/>
                          <a:ea typeface="Arial"/>
                          <a:cs typeface="Arial"/>
                        </a:rPr>
                        <a:t>Contador do goal; custo calculado por outra fonte</a:t>
                      </a:r>
                    </a:p>
                  </a:txBody>
                  <a:tcPr marL="91440" marR="91440" marT="45720" marB="45720">
                    <a:solidFill>
                      <a:srgbClr val="F7F5F0"/>
                    </a:solidFill>
                  </a:tcPr>
                </a:tc>
              </a:tr>
            </a:tbl>
          </a:graphicData>
        </a:graphic>
      </p:graphicFrame>
    </p:spTree>
    <p:extLst>
      <p:ext uri="{BB962C8B-B14F-4D97-AF65-F5344CB8AC3E}">
        <p14:creationId xmlns:p14="http://schemas.microsoft.com/office/powerpoint/2010/main" val="805179225"/>
      </p:ext>
    </p:extLst>
  </p:cSld>
</p:sld>
</file>

<file path=ppt/slides/slide23.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6" name="Apoio: documentos e fontes">
            <a:extLst xmlns:a="http://schemas.openxmlformats.org/drawingml/2006/main">
              <a:ext uri="{FF2B5EF4-FFF2-40B4-BE49-F238E27FC236}">
                <a16:creationId xmlns:a16="http://schemas.microsoft.com/office/drawing/2014/main" id="{73C3355D-18D4-4D71-8812-E9F645DAEE18}"/>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Apoio: documentos e fontes</a:t>
            </a:r>
          </a:p>
        </p:txBody>
      </p:sp>
      <p:sp>
        <p:nvSpPr>
          <p:cNvPr id="2" name="Apoio">
            <a:extLst xmlns:a="http://schemas.openxmlformats.org/drawingml/2006/main">
              <a:ext uri="{FF2B5EF4-FFF2-40B4-BE49-F238E27FC236}">
                <a16:creationId xmlns:a16="http://schemas.microsoft.com/office/drawing/2014/main" id="{C25ADC33-688C-4B8A-8182-072CAD5D43B3}"/>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Apoio</a:t>
            </a:r>
          </a:p>
        </p:txBody>
      </p:sp>
      <p:sp>
        <p:nvSpPr>
          <p:cNvPr id="3" name="Repositório TGdoWayne">
            <a:extLst xmlns:a="http://schemas.openxmlformats.org/drawingml/2006/main">
              <a:ext uri="{FF2B5EF4-FFF2-40B4-BE49-F238E27FC236}">
                <a16:creationId xmlns:a16="http://schemas.microsoft.com/office/drawing/2014/main" id="{3014C13C-9227-41E1-BB8F-3067B7AC4BF1}"/>
              </a:ext>
            </a:extLst>
          </p:cNvPr>
          <p:cNvSpPr>
            <a:spLocks xmlns:a="http://schemas.openxmlformats.org/drawingml/2006/main" noGrp="1"/>
          </p:cNvSpPr>
          <p:nvPr/>
        </p:nvSpPr>
        <p:spPr>
          <a:xfrm xmlns:a="http://schemas.openxmlformats.org/drawingml/2006/main">
            <a:off x="685800" y="17621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1">
                <a:solidFill>
                  <a:srgbClr val="17324D"/>
                </a:solidFill>
                <a:latin typeface="Arial"/>
                <a:ea typeface="Arial"/>
                <a:cs typeface="Arial"/>
              </a:defRPr>
            </a:pPr>
            <a:r>
              <a:rPr sz="2850" b="1">
                <a:solidFill>
                  <a:srgbClr val="17324D"/>
                </a:solidFill>
                <a:latin typeface="Arial"/>
                <a:ea typeface="Arial"/>
                <a:cs typeface="Arial"/>
              </a:rPr>
              <a:t>Repositório TGdoWayne</a:t>
            </a:r>
          </a:p>
        </p:txBody>
      </p:sp>
      <p:sp>
        <p:nvSpPr>
          <p:cNvPr id="4" name="github.com/flavioluiz/TGdoWayne">
            <a:extLst xmlns:a="http://schemas.openxmlformats.org/drawingml/2006/main">
              <a:ext uri="{FF2B5EF4-FFF2-40B4-BE49-F238E27FC236}">
                <a16:creationId xmlns:a16="http://schemas.microsoft.com/office/drawing/2014/main" id="{2B096D2C-0ECD-4A6F-BBF6-1602F5632F5F}"/>
              </a:ext>
            </a:extLst>
          </p:cNvPr>
          <p:cNvSpPr>
            <a:spLocks xmlns:a="http://schemas.openxmlformats.org/drawingml/2006/main" noGrp="1"/>
          </p:cNvSpPr>
          <p:nvPr/>
        </p:nvSpPr>
        <p:spPr>
          <a:xfrm xmlns:a="http://schemas.openxmlformats.org/drawingml/2006/main">
            <a:off x="685800" y="257175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087F8C"/>
                </a:solidFill>
                <a:latin typeface="Arial"/>
                <a:ea typeface="Arial"/>
                <a:cs typeface="Arial"/>
              </a:defRPr>
            </a:pPr>
            <a:r>
              <a:rPr sz="2400" b="0">
                <a:solidFill>
                  <a:srgbClr val="087F8C"/>
                </a:solidFill>
                <a:latin typeface="Arial"/>
                <a:ea typeface="Arial"/>
                <a:cs typeface="Arial"/>
              </a:rPr>
              <a:t>github.com/flavioluiz/TGdoWayne</a:t>
            </a:r>
          </a:p>
        </p:txBody>
      </p:sp>
      <p:sp>
        <p:nvSpPr>
          <p:cNvPr id="5" name="Relatório do estudo de caso e evidências&#10;Notas da revis">
            <a:extLst xmlns:a="http://schemas.openxmlformats.org/drawingml/2006/main">
              <a:ext uri="{FF2B5EF4-FFF2-40B4-BE49-F238E27FC236}">
                <a16:creationId xmlns:a16="http://schemas.microsoft.com/office/drawing/2014/main" id="{C92CFA64-60A7-4B26-AEEE-987CAC0DDA9F}"/>
              </a:ext>
            </a:extLst>
          </p:cNvPr>
          <p:cNvSpPr>
            <a:spLocks xmlns:a="http://schemas.openxmlformats.org/drawingml/2006/main" noGrp="1"/>
          </p:cNvSpPr>
          <p:nvPr/>
        </p:nvSpPr>
        <p:spPr>
          <a:xfrm xmlns:a="http://schemas.openxmlformats.org/drawingml/2006/main">
            <a:off x="685800" y="3762375"/>
            <a:ext cx="1066800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253643"/>
                </a:solidFill>
                <a:latin typeface="Arial"/>
                <a:ea typeface="Arial"/>
                <a:cs typeface="Arial"/>
              </a:defRPr>
            </a:pPr>
            <a:r>
              <a:rPr sz="2250" b="0">
                <a:solidFill>
                  <a:srgbClr val="253643"/>
                </a:solidFill>
                <a:latin typeface="Arial"/>
                <a:ea typeface="Arial"/>
                <a:cs typeface="Arial"/>
              </a:rPr>
              <a:t>Relatório do estudo de caso e evidências</a:t>
            </a:r>
          </a:p>
          <a:p xmlns:a="http://schemas.openxmlformats.org/drawingml/2006/main">
            <a:pPr>
              <a:defRPr sz="2250" b="0">
                <a:solidFill>
                  <a:srgbClr val="253643"/>
                </a:solidFill>
                <a:latin typeface="Arial"/>
                <a:ea typeface="Arial"/>
                <a:cs typeface="Arial"/>
              </a:defRPr>
            </a:pPr>
            <a:r>
              <a:rPr sz="2250" b="0">
                <a:solidFill>
                  <a:srgbClr val="253643"/>
                </a:solidFill>
                <a:latin typeface="Arial"/>
                <a:ea typeface="Arial"/>
                <a:cs typeface="Arial"/>
              </a:rPr>
              <a:t>Notas da revisão do manuscrito</a:t>
            </a:r>
          </a:p>
          <a:p xmlns:a="http://schemas.openxmlformats.org/drawingml/2006/main">
            <a:pPr>
              <a:defRPr sz="2250" b="0">
                <a:solidFill>
                  <a:srgbClr val="253643"/>
                </a:solidFill>
                <a:latin typeface="Arial"/>
                <a:ea typeface="Arial"/>
                <a:cs typeface="Arial"/>
              </a:defRPr>
            </a:pPr>
            <a:r>
              <a:rPr sz="2250" b="0">
                <a:solidFill>
                  <a:srgbClr val="253643"/>
                </a:solidFill>
                <a:latin typeface="Arial"/>
                <a:ea typeface="Arial"/>
                <a:cs typeface="Arial"/>
              </a:rPr>
              <a:t>Dissertação v1.0.0 e arquivos de reprodução</a:t>
            </a:r>
          </a:p>
          <a:p xmlns:a="http://schemas.openxmlformats.org/drawingml/2006/main">
            <a:pPr>
              <a:defRPr sz="2250" b="0">
                <a:solidFill>
                  <a:srgbClr val="253643"/>
                </a:solidFill>
                <a:latin typeface="Arial"/>
                <a:ea typeface="Arial"/>
                <a:cs typeface="Arial"/>
              </a:defRPr>
            </a:pPr>
            <a:r>
              <a:rPr sz="2250" b="0">
                <a:solidFill>
                  <a:srgbClr val="253643"/>
                </a:solidFill>
                <a:latin typeface="Arial"/>
                <a:ea typeface="Arial"/>
                <a:cs typeface="Arial"/>
              </a:rPr>
              <a:t>Roteiro desta apresentação com fontes por slide</a:t>
            </a:r>
          </a:p>
        </p:txBody>
      </p:sp>
    </p:spTree>
    <p:extLst>
      <p:ext uri="{BB962C8B-B14F-4D97-AF65-F5344CB8AC3E}">
        <p14:creationId xmlns:p14="http://schemas.microsoft.com/office/powerpoint/2010/main" val="112114164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2026-09-13T14:46:51.0280000Z</dcterms:created>
  <dcterms:modified xsi:type="dcterms:W3CDTF">2026-09-13T14:46:51.0280000Z</dcterms:modified>
</coreProperties>
</file>