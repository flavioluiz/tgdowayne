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b9cde198cd24085" /><Relationship Type="http://schemas.openxmlformats.org/officeDocument/2006/relationships/extended-properties" Target="/docProps/app.xml" Id="R04356b54f48940ee" /><Relationship Type="http://schemas.openxmlformats.org/officeDocument/2006/relationships/officeDocument" Target="/ppt/presentation.xml" Id="R29cfc82e8f73472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1fc97f43a3e4489"/>
  </p:sldMasterIdLst>
  <p:notesMasterIdLst>
    <p:notesMasterId xmlns:r="http://schemas.openxmlformats.org/officeDocument/2006/relationships" r:id="Rd81b6a3c09b44f4f"/>
  </p:notesMasterIdLst>
  <p:sldIdLst>
    <p:sldId xmlns:r="http://schemas.openxmlformats.org/officeDocument/2006/relationships" id="256" r:id="R399f4e7898a04d51"/>
    <p:sldId xmlns:r="http://schemas.openxmlformats.org/officeDocument/2006/relationships" id="257" r:id="Rbefdf331b6c4431c"/>
    <p:sldId xmlns:r="http://schemas.openxmlformats.org/officeDocument/2006/relationships" id="258" r:id="R4c1ec53e718e4d04"/>
    <p:sldId xmlns:r="http://schemas.openxmlformats.org/officeDocument/2006/relationships" id="259" r:id="R84ed93e1774c491b"/>
    <p:sldId xmlns:r="http://schemas.openxmlformats.org/officeDocument/2006/relationships" id="260" r:id="R90a62972397a4e0f"/>
    <p:sldId xmlns:r="http://schemas.openxmlformats.org/officeDocument/2006/relationships" id="261" r:id="R0885599bec4344bb"/>
    <p:sldId xmlns:r="http://schemas.openxmlformats.org/officeDocument/2006/relationships" id="262" r:id="R269aa7ff31304863"/>
    <p:sldId xmlns:r="http://schemas.openxmlformats.org/officeDocument/2006/relationships" id="263" r:id="R703f082d0fb94ae4"/>
    <p:sldId xmlns:r="http://schemas.openxmlformats.org/officeDocument/2006/relationships" id="264" r:id="Rf61dad931e824a74"/>
    <p:sldId xmlns:r="http://schemas.openxmlformats.org/officeDocument/2006/relationships" id="265" r:id="R9ea0dd2a56b643f5"/>
    <p:sldId xmlns:r="http://schemas.openxmlformats.org/officeDocument/2006/relationships" id="266" r:id="R9ad987aa05ed4734"/>
    <p:sldId xmlns:r="http://schemas.openxmlformats.org/officeDocument/2006/relationships" id="267" r:id="R92457cd729d444d4"/>
    <p:sldId xmlns:r="http://schemas.openxmlformats.org/officeDocument/2006/relationships" id="268" r:id="Ra394200a2a214f1b"/>
    <p:sldId xmlns:r="http://schemas.openxmlformats.org/officeDocument/2006/relationships" id="269" r:id="R9c21f37c8d204aff"/>
    <p:sldId xmlns:r="http://schemas.openxmlformats.org/officeDocument/2006/relationships" id="270" r:id="R9ca49e84ee0046b5"/>
    <p:sldId xmlns:r="http://schemas.openxmlformats.org/officeDocument/2006/relationships" id="271" r:id="Re9631048073c4a71"/>
    <p:sldId xmlns:r="http://schemas.openxmlformats.org/officeDocument/2006/relationships" id="272" r:id="R0685999314724f15"/>
    <p:sldId xmlns:r="http://schemas.openxmlformats.org/officeDocument/2006/relationships" id="273" r:id="R22c0222552cf4c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0b2732a5d354f85" /><Relationship Type="http://schemas.openxmlformats.org/officeDocument/2006/relationships/slideMaster" Target="/ppt/slideMasters/slideMaster1.xml" Id="Rc1fc97f43a3e4489" /><Relationship Type="http://schemas.openxmlformats.org/officeDocument/2006/relationships/notesMaster" Target="/ppt/notesMasters/notesMaster1.xml" Id="Rd81b6a3c09b44f4f" /><Relationship Type="http://schemas.openxmlformats.org/officeDocument/2006/relationships/presProps" Target="/ppt/presProps.xml" Id="R76ede7ae71374adb" /><Relationship Type="http://schemas.openxmlformats.org/officeDocument/2006/relationships/tableStyles" Target="/ppt/tableStyles.xml" Id="R6eee46bcf7e340d3" /><Relationship Type="http://schemas.openxmlformats.org/officeDocument/2006/relationships/slide" Target="/ppt/slides/slide1.xml" Id="R399f4e7898a04d51" /><Relationship Type="http://schemas.openxmlformats.org/officeDocument/2006/relationships/slide" Target="/ppt/slides/slide2.xml" Id="Rbefdf331b6c4431c" /><Relationship Type="http://schemas.openxmlformats.org/officeDocument/2006/relationships/slide" Target="/ppt/slides/slide3.xml" Id="R4c1ec53e718e4d04" /><Relationship Type="http://schemas.openxmlformats.org/officeDocument/2006/relationships/slide" Target="/ppt/slides/slide4.xml" Id="R84ed93e1774c491b" /><Relationship Type="http://schemas.openxmlformats.org/officeDocument/2006/relationships/slide" Target="/ppt/slides/slide5.xml" Id="R90a62972397a4e0f" /><Relationship Type="http://schemas.openxmlformats.org/officeDocument/2006/relationships/slide" Target="/ppt/slides/slide6.xml" Id="R0885599bec4344bb" /><Relationship Type="http://schemas.openxmlformats.org/officeDocument/2006/relationships/slide" Target="/ppt/slides/slide7.xml" Id="R269aa7ff31304863" /><Relationship Type="http://schemas.openxmlformats.org/officeDocument/2006/relationships/slide" Target="/ppt/slides/slide8.xml" Id="R703f082d0fb94ae4" /><Relationship Type="http://schemas.openxmlformats.org/officeDocument/2006/relationships/slide" Target="/ppt/slides/slide9.xml" Id="Rf61dad931e824a74" /><Relationship Type="http://schemas.openxmlformats.org/officeDocument/2006/relationships/slide" Target="/ppt/slides/slide10.xml" Id="R9ea0dd2a56b643f5" /><Relationship Type="http://schemas.openxmlformats.org/officeDocument/2006/relationships/slide" Target="/ppt/slides/slide11.xml" Id="R9ad987aa05ed4734" /><Relationship Type="http://schemas.openxmlformats.org/officeDocument/2006/relationships/slide" Target="/ppt/slides/slide12.xml" Id="R92457cd729d444d4" /><Relationship Type="http://schemas.openxmlformats.org/officeDocument/2006/relationships/slide" Target="/ppt/slides/slide13.xml" Id="Ra394200a2a214f1b" /><Relationship Type="http://schemas.openxmlformats.org/officeDocument/2006/relationships/slide" Target="/ppt/slides/slide14.xml" Id="R9c21f37c8d204aff" /><Relationship Type="http://schemas.openxmlformats.org/officeDocument/2006/relationships/slide" Target="/ppt/slides/slide15.xml" Id="R9ca49e84ee0046b5" /><Relationship Type="http://schemas.openxmlformats.org/officeDocument/2006/relationships/slide" Target="/ppt/slides/slide16.xml" Id="Re9631048073c4a71" /><Relationship Type="http://schemas.openxmlformats.org/officeDocument/2006/relationships/slide" Target="/ppt/slides/slide17.xml" Id="R0685999314724f15" /><Relationship Type="http://schemas.openxmlformats.org/officeDocument/2006/relationships/slide" Target="/ppt/slides/slide18.xml" Id="R22c0222552cf4c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76567f5920b428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6f5f820c5dd4e13" /><Relationship Type="http://schemas.openxmlformats.org/officeDocument/2006/relationships/notesMaster" Target="/ppt/notesMasters/notesMaster1.xml" Id="Rf84084662ec8418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c150a7cda5b4bfd" /><Relationship Type="http://schemas.openxmlformats.org/officeDocument/2006/relationships/notesMaster" Target="/ppt/notesMasters/notesMaster1.xml" Id="R48d9328a816e49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9b0383389f640b7" /><Relationship Type="http://schemas.openxmlformats.org/officeDocument/2006/relationships/notesMaster" Target="/ppt/notesMasters/notesMaster1.xml" Id="R3a8608e8c06643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bd48f0d7ef3469a" /><Relationship Type="http://schemas.openxmlformats.org/officeDocument/2006/relationships/notesMaster" Target="/ppt/notesMasters/notesMaster1.xml" Id="R8cc924ff82e140a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11a9bd7396849f0" /><Relationship Type="http://schemas.openxmlformats.org/officeDocument/2006/relationships/notesMaster" Target="/ppt/notesMasters/notesMaster1.xml" Id="Rbc7f632bc5f24ec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4827e2ddabd4943" /><Relationship Type="http://schemas.openxmlformats.org/officeDocument/2006/relationships/notesMaster" Target="/ppt/notesMasters/notesMaster1.xml" Id="R91dfc0b623594b6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c392bbb86324cb9" /><Relationship Type="http://schemas.openxmlformats.org/officeDocument/2006/relationships/notesMaster" Target="/ppt/notesMasters/notesMaster1.xml" Id="Rfa246675cc12413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0599edd2af5406a" /><Relationship Type="http://schemas.openxmlformats.org/officeDocument/2006/relationships/notesMaster" Target="/ppt/notesMasters/notesMaster1.xml" Id="R0a26d16766ec4d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f2d6db3856c4850" /><Relationship Type="http://schemas.openxmlformats.org/officeDocument/2006/relationships/notesMaster" Target="/ppt/notesMasters/notesMaster1.xml" Id="R6d22897c7c874c1e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1b3ae67912348ba" /><Relationship Type="http://schemas.openxmlformats.org/officeDocument/2006/relationships/notesMaster" Target="/ppt/notesMasters/notesMaster1.xml" Id="R98a8c320e3a6464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5f367712f4824de5" /><Relationship Type="http://schemas.openxmlformats.org/officeDocument/2006/relationships/notesMaster" Target="/ppt/notesMasters/notesMaster1.xml" Id="R24edaf0dbd214de8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d0e81301fa0940c4" /><Relationship Type="http://schemas.openxmlformats.org/officeDocument/2006/relationships/notesMaster" Target="/ppt/notesMasters/notesMaster1.xml" Id="R9ff3ce5b2e80440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96881ce63f94464b" /><Relationship Type="http://schemas.openxmlformats.org/officeDocument/2006/relationships/notesMaster" Target="/ppt/notesMasters/notesMaster1.xml" Id="Reccc50e36ccd455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4ec7d64ec4a4cca" /><Relationship Type="http://schemas.openxmlformats.org/officeDocument/2006/relationships/notesMaster" Target="/ppt/notesMasters/notesMaster1.xml" Id="R497546895014447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9c5eb3fc48a841c6" /><Relationship Type="http://schemas.openxmlformats.org/officeDocument/2006/relationships/notesMaster" Target="/ppt/notesMasters/notesMaster1.xml" Id="R96648406681a4a6c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abb0a636e39442e5" /><Relationship Type="http://schemas.openxmlformats.org/officeDocument/2006/relationships/notesMaster" Target="/ppt/notesMasters/notesMaster1.xml" Id="Rc969022b0c654b0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74c84d4ae9549a4" /><Relationship Type="http://schemas.openxmlformats.org/officeDocument/2006/relationships/notesMaster" Target="/ppt/notesMasters/notesMaster1.xml" Id="R42514a30b0df4c2e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94bf1da2465484a" /><Relationship Type="http://schemas.openxmlformats.org/officeDocument/2006/relationships/notesMaster" Target="/ppt/notesMasters/notesMaster1.xml" Id="R1d258e1469ad45e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Abrir mostrando os artefatos reais. O agente produziu uma dissertação de 167 páginas e um artigo inicialmente de sete páginas. O manuscrito mostrado tem nove páginas após revisão posterior. Da criação ao encerramento do goal transcorreram 54h56min, arredondadas para 55 horas; desde o primeiro pedido foram cerca de 57 horas. O contador do goal marcou 30h51min, sem representar tempo de CPU. A provocação é o que uma entrega assim diz sobre a formação humana.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abertura e apêndice D; PDFs originais.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120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Apresentar a pergunta antes dos detalhes de execução. Um documento pode ser útil para avaliar o resultado científico e insuficiente para demonstrar o domínio individual. Separar aprendizagem, qualidade e responsabilidade. Evitar dizer que o PDF não prova nada ou que a formação perdeu valor. O experimento não mediu aprendizagem.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abertura e seção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proponente declara não dominar o tema e não ter fornecido hipóteses, equações ou código. Forneceu o TG de 2003 e solicitou continuidade implementável, validável e com potencial de publicação. O texto do slide é uma síntese dos pedidos, não uma citação literal. Não afirmar ausência completa de intervenção: houve acompanhamento e pareceres encaminhados.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TG_Wayne.pdf; relatório, apêndices A a A.2.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Ler o diagrama da esquerda para a direita. O usuário definiu a intenção e acompanhou o processo. O Codex Astra coordenou três subagentes e formulou, implementou e redigiu. Os pareceres do Gemini chegaram por intermédio do usuário. A seta dupla indica crítica e resposta, não uma integração automática entre sistemas. Não houve revisão cega nem avaliação formal por pares humanos.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abertura, seção 2 e apêndices A e B.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90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Em vez de alegar que repetiu o TG como descoberta, o agente reconheceu resultados já publicados em 2004 e antecedentes posteriores. Um trabalho de 2026 motivou uma comparação entre simplificações. Não dizer que esse artigo continha uma falha já provada. O recorte foi uma pergunta de confiabilidade com originalidade candidata.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seção 1; protocolo e decisão de recorte na literatura.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100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Explicar sem física: em dados simulados sabemos a resposta. Uma faixa de incerteza que promete conter essa resposta em 90% dos casos precisa passar por um teste. Em um parâmetro de ruído ela continha a resposta em 313 de 500 casos, 62,6%. Isso demonstra uma limitação daquela aproximação naquele teste, não erro de todos os métodos. O problema tornou-se parte do resultado científico.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seção 2 e apêndice B.1; review_efac_coverage.json.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120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Distinguir os ciclos. No primeiro, o Codex conferiu o parecer e acrescentou 300 análises em 50 casos sob condições fixadas, além de um estudo temporal. O complemento resolveu um problema menor. No segundo, o agente revisou o artigo sem simulações novas e recusou extrapolações: falha em simulação não prova falha inevitável em dados reais. As frases do slide são sínteses, não transcrições. A revisão foi mediada pelo usuário e não certifica o resultado.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seção 2 e apêndice A.2; article/REVISION_NOTES.md.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90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 comparação ampla continuou inconclusiva na precisão exigida. O estudo adicional respondeu sob condições fixadas, sem resolver a formulação ampla. O agente escolheu a alternativa simulada autorizada pelo plano porque não tinha um adaptador local validado para as séries reais. Há dados públicos, portanto não dizer que eram inexistentes. Discutir o risco de confundir entrega administrativa e conclusão científica.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seção 2 e apêndices B e B.1.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As linhas incluem comentários e vazios. As análises principais reutilizam dados; não são 45 mil descobertas. A suíte básica soma 217 verificações, com outras auditorias. Não estimar equivalência a anos de trabalho humano sem comparação. O custo de US$ 50 é rateio informado; US$ 1.300 é equivalente em API Standard a preços de 13/09/2026. Fast seria aproximadamente US$ 2.600. A estimativa exclui Gemini, computação local, ferramentas e estudo de caso. Não mede o esforço de compreender e verificar. Detalhes no apoio.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apêndices C e E; estimativa_custo_api.json.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120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documento continua permitindo examinar a pesquisa. O caso mostra que sua qualidade aparente não basta para atribuir domínio ao estudante. Identificar uso de IA ou exigir declaração de ferramentas tem papel de transparência, mas não responde se a pessoa entende o que foi feito. Explicar essa distinção sem tratar integridade acadêmica como dispensável.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seção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130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Apresentar como cenário, não previsão comprovada: se agentes aumentarem a produção, atenção de revisores pode limitar o sistema. Contribuições incrementais não perdem valor automaticamente. Uma réplica crítica ou limite bem determinado pode ser mais relevante que alegar uma grande descoberta. No caso, a limitação da aproximação e a inconclusão documentada permitem discutir utilidade. Pedir que a audiência pense no critério que usaria para priorizar um manuscrito.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seção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110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experimento foi computacional. Não comparou produtividade ou qualidade com pesquisa de laboratório. Medir exige vínculo com fenômenos, calibração e desenho de ensaios; dados inéditos podem ampliar a evidência. Isso não garante superioridade do experimental: teoria e computação também contribuem e experimentos também usam automação. A pergunta comum é o que conecta a conclusão à evidência e como a pessoa responde por essa conexão.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seção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130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agente pode executar implementações e primeiras comparações. A oportunidade é explorar ideias antes inviáveis. O orientador e o estudante precisam construir critérios, escolher problemas e verificar resultados. Isso não retira formulação do estudante; torna importante observá-la. Distinguir atividade para aprender, que pode pedir trabalho individual, da produção científica com delegação ampla. Não reduzir o estudante a operador de agentes.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seções 3 e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130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Propor uma sequência de avaliação concreta. Antes de rodar uma modificação, o estudante registra a previsão e a razão. Depois interpreta o novo gráfico e explica uma divergência. Na defesa reconstrói um argumento central e seus limites, em parte sem assistência quando apropriado. A banca usa registros de acompanhamento para julgar autonomia e profundidade. Para o doutorado e mestrado, discutir níveis esperados sem assumir que número de páginas diferencia os títulos. Estas são propostas pedagógicas, não resultados testados no caso.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seções 3 e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110 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Encerrar com espaço real para debate. Convidar a audiência a formular um critério para cada questão. O experimento fornece artefatos e decisões verificáveis; a qualidade científica deve ser examinada por especialistas, e aprendizagem requer estudo próprio. Não propor uma única política institucional a partir de um caso. Se houver mais tempo, discutir avaliação independente do manuscrito e comparação entre versões, ainda não realizadas.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seção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Apoio opcional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Números históricos da v1.0.0. O manuscrito de nove páginas é posterior. O total de código arquivado não é deduplicado. O tempo do goal não é CPU. As análises compartilham dados.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apêndices C e 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Apoio opcional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Aplicação dos preços oficiais Astra Standard de 13/09/2026 aos registros únicos por resposta. Até o goal são 6.510 respostas, com agente principal e três subagentes, totalizando US$ 1.289,34. Os complementos científicos acrescentam US$ 14,29. 97,56% da entrada veio de cache. Gravações de cache zero no registro; cobrar toda entrada nova como gravação acrescentaria cerca de US$ 53, mantida a reutilização. Fast dobra o preço. Não incluir o contador do goal nem somar raciocínio duas vezes. Exclui Gemini, computação local, ferramentas adicionais e estudo de caso. US$ 50 é estimativa do usuário sobre rateio, não tarifa de API.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Relatório, apêndice E; estimativa_custo_api.json; developers.openai.com/api/docs/models/gpt-6-astra.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Apoio opcional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 repositório reúne PDFs e fontes, evidências e notas de revisão. O corpo do relatório discute decisões e formação; os apêndices guardam interações, métricas e método. Conversas privadas não foram transcritas.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Fontes: https://github.com/flavioluiz/TGdoWayne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1db0ec65dc43b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fe4c0ccd30243e3" /><Relationship Type="http://schemas.openxmlformats.org/officeDocument/2006/relationships/slideLayout" Target="/ppt/slideLayouts/slideLayout1.xml" Id="Rc63013ad2c6246b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3013ad2c6246b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76692c421cf441e" /><Relationship Type="http://schemas.openxmlformats.org/officeDocument/2006/relationships/image" Target="/ppt/media/image.png" Id="R06e524e8a2464b00" /><Relationship Type="http://schemas.openxmlformats.org/officeDocument/2006/relationships/image" Target="/ppt/media/image2.png" Id="R34eb42fc1d4a42f3" /><Relationship Type="http://schemas.openxmlformats.org/officeDocument/2006/relationships/notesSlide" Target="/ppt/notesSlides/notesSlide1.xml" Id="Rd398c196e17046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d4ec570da4410" /><Relationship Type="http://schemas.openxmlformats.org/officeDocument/2006/relationships/notesSlide" Target="/ppt/notesSlides/notesSlide2.xml" Id="R43459fc44e7a49e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275e47ac3a44da" /><Relationship Type="http://schemas.openxmlformats.org/officeDocument/2006/relationships/image" Target="/ppt/media/image3.png" Id="Rdb5698a864944e06" /><Relationship Type="http://schemas.openxmlformats.org/officeDocument/2006/relationships/notesSlide" Target="/ppt/notesSlides/notesSlide3.xml" Id="R3c284d4b8bdc452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eea825eb984f80" /><Relationship Type="http://schemas.openxmlformats.org/officeDocument/2006/relationships/notesSlide" Target="/ppt/notesSlides/notesSlide4.xml" Id="Rb46c75c8a3734771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0eb3b36d4f4822" /><Relationship Type="http://schemas.openxmlformats.org/officeDocument/2006/relationships/notesSlide" Target="/ppt/notesSlides/notesSlide5.xml" Id="R534424df21394a4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4015a4eced4a98" /><Relationship Type="http://schemas.openxmlformats.org/officeDocument/2006/relationships/notesSlide" Target="/ppt/notesSlides/notesSlide6.xml" Id="R0ec1e5562cbc42b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af9ce3ffd43e4" /><Relationship Type="http://schemas.openxmlformats.org/officeDocument/2006/relationships/notesSlide" Target="/ppt/notesSlides/notesSlide7.xml" Id="Rda902619b903495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9df84d8663436f" /><Relationship Type="http://schemas.openxmlformats.org/officeDocument/2006/relationships/notesSlide" Target="/ppt/notesSlides/notesSlide8.xml" Id="Rb6bd378c5e00416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6dbaca29f24856" /><Relationship Type="http://schemas.openxmlformats.org/officeDocument/2006/relationships/notesSlide" Target="/ppt/notesSlides/notesSlide9.xml" Id="R5fbf7656b380459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bed747d7c84bcc" /><Relationship Type="http://schemas.openxmlformats.org/officeDocument/2006/relationships/notesSlide" Target="/ppt/notesSlides/notesSlide10.xml" Id="R30207ce73aa645a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4c2f62bbe44d8b" /><Relationship Type="http://schemas.openxmlformats.org/officeDocument/2006/relationships/notesSlide" Target="/ppt/notesSlides/notesSlide11.xml" Id="R8333971eb8974e1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c59a7442124d1c" /><Relationship Type="http://schemas.openxmlformats.org/officeDocument/2006/relationships/notesSlide" Target="/ppt/notesSlides/notesSlide12.xml" Id="R02a85fdfd0734e60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a9af50d7534f97" /><Relationship Type="http://schemas.openxmlformats.org/officeDocument/2006/relationships/notesSlide" Target="/ppt/notesSlides/notesSlide13.xml" Id="R7b557e7ff3714f8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61d2f509354840" /><Relationship Type="http://schemas.openxmlformats.org/officeDocument/2006/relationships/notesSlide" Target="/ppt/notesSlides/notesSlide14.xml" Id="Rd7708f77c6344b5a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4620262ff94ae9" /><Relationship Type="http://schemas.openxmlformats.org/officeDocument/2006/relationships/notesSlide" Target="/ppt/notesSlides/notesSlide15.xml" Id="R1031da4fae3943f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60ee30b5a2473e" /><Relationship Type="http://schemas.openxmlformats.org/officeDocument/2006/relationships/notesSlide" Target="/ppt/notesSlides/notesSlide16.xml" Id="Ra852661e3453413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75fc628494182" /><Relationship Type="http://schemas.openxmlformats.org/officeDocument/2006/relationships/notesSlide" Target="/ppt/notesSlides/notesSlide17.xml" Id="Rdcc3d1453443450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0a5fd09c4e4905" /><Relationship Type="http://schemas.openxmlformats.org/officeDocument/2006/relationships/notesSlide" Target="/ppt/notesSlides/notesSlide18.xml" Id="R91516a51ac3f4f08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Uma dissertação em poucos dias">
            <a:extLst xmlns:a="http://schemas.openxmlformats.org/drawingml/2006/main">
              <a:ext uri="{FF2B5EF4-FFF2-40B4-BE49-F238E27FC236}">
                <a16:creationId xmlns:a16="http://schemas.microsoft.com/office/drawing/2014/main" id="{8ACF722E-6849-40FE-9CDB-06855EBCA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dissertação em poucos dias</a:t>
            </a:r>
          </a:p>
        </p:txBody>
      </p:sp>
      <p:sp>
        <p:nvSpPr>
          <p:cNvPr id="2" name="1 / 15">
            <a:extLst xmlns:a="http://schemas.openxmlformats.org/drawingml/2006/main">
              <a:ext uri="{FF2B5EF4-FFF2-40B4-BE49-F238E27FC236}">
                <a16:creationId xmlns:a16="http://schemas.microsoft.com/office/drawing/2014/main" id="{83070F70-D756-4B1E-9923-D8DF35165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CC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8"/>
                </a:solidFill>
                <a:latin typeface="Arial"/>
                <a:ea typeface="Arial"/>
                <a:cs typeface="Arial"/>
              </a:rPr>
              <a:t>1 / 15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e524e8a2464b00"/>
          <a:stretch xmlns:a="http://schemas.openxmlformats.org/drawingml/2006/main"/>
        </p:blipFill>
        <p:spPr>
          <a:xfrm xmlns:a="http://schemas.openxmlformats.org/drawingml/2006/main">
            <a:off x="749754" y="1857375"/>
            <a:ext cx="2424793" cy="34290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eb42fc1d4a42f3"/>
          <a:stretch xmlns:a="http://schemas.openxmlformats.org/drawingml/2006/main"/>
        </p:blipFill>
        <p:spPr>
          <a:xfrm xmlns:a="http://schemas.openxmlformats.org/drawingml/2006/main">
            <a:off x="3645354" y="1857375"/>
            <a:ext cx="2424793" cy="3429000"/>
          </a:xfrm>
          <a:prstGeom xmlns:a="http://schemas.openxmlformats.org/drawingml/2006/main" prst="rect">
            <a:avLst/>
          </a:prstGeom>
        </p:spPr>
      </p:pic>
      <p:sp>
        <p:nvSpPr>
          <p:cNvPr id="5" name="167 páginas">
            <a:extLst xmlns:a="http://schemas.openxmlformats.org/drawingml/2006/main">
              <a:ext uri="{FF2B5EF4-FFF2-40B4-BE49-F238E27FC236}">
                <a16:creationId xmlns:a16="http://schemas.microsoft.com/office/drawing/2014/main" id="{29F821FE-060A-451C-A481-AFBF1CD0F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5410200"/>
            <a:ext cx="2476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167 páginas</a:t>
            </a:r>
          </a:p>
        </p:txBody>
      </p:sp>
      <p:sp>
        <p:nvSpPr>
          <p:cNvPr id="6" name="Artigo: 9 páginas">
            <a:extLst xmlns:a="http://schemas.openxmlformats.org/drawingml/2006/main">
              <a:ext uri="{FF2B5EF4-FFF2-40B4-BE49-F238E27FC236}">
                <a16:creationId xmlns:a16="http://schemas.microsoft.com/office/drawing/2014/main" id="{47DBF101-5134-4C4E-BC2B-E31AE7B80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410200"/>
            <a:ext cx="285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Artigo: 9 páginas</a:t>
            </a:r>
          </a:p>
        </p:txBody>
      </p:sp>
      <p:sp>
        <p:nvSpPr>
          <p:cNvPr id="7" name="55 horas">
            <a:extLst xmlns:a="http://schemas.openxmlformats.org/drawingml/2006/main">
              <a:ext uri="{FF2B5EF4-FFF2-40B4-BE49-F238E27FC236}">
                <a16:creationId xmlns:a16="http://schemas.microsoft.com/office/drawing/2014/main" id="{AF3B5D7F-90B1-455D-8913-CCAC08759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981200"/>
            <a:ext cx="4476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B8DCE1"/>
                </a:solidFill>
                <a:latin typeface="Arial"/>
                <a:ea typeface="Arial"/>
                <a:cs typeface="Arial"/>
              </a:defRPr>
            </a:pPr>
            <a:r>
              <a:rPr sz="5400" b="1">
                <a:solidFill>
                  <a:srgbClr val="B8DCE1"/>
                </a:solidFill>
                <a:latin typeface="Arial"/>
                <a:ea typeface="Arial"/>
                <a:cs typeface="Arial"/>
              </a:rPr>
              <a:t>55 horas</a:t>
            </a:r>
          </a:p>
        </p:txBody>
      </p:sp>
      <p:sp>
        <p:nvSpPr>
          <p:cNvPr id="8" name="no calendário do goal">
            <a:extLst xmlns:a="http://schemas.openxmlformats.org/drawingml/2006/main">
              <a:ext uri="{FF2B5EF4-FFF2-40B4-BE49-F238E27FC236}">
                <a16:creationId xmlns:a16="http://schemas.microsoft.com/office/drawing/2014/main" id="{35E1D71F-A049-4207-AD87-96F555024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3067050"/>
            <a:ext cx="44767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calendário do goal</a:t>
            </a:r>
          </a:p>
        </p:txBody>
      </p:sp>
      <p:sp>
        <p:nvSpPr>
          <p:cNvPr id="9" name="31 horas">
            <a:extLst xmlns:a="http://schemas.openxmlformats.org/drawingml/2006/main">
              <a:ext uri="{FF2B5EF4-FFF2-40B4-BE49-F238E27FC236}">
                <a16:creationId xmlns:a16="http://schemas.microsoft.com/office/drawing/2014/main" id="{EFD5C3A2-46C4-45FE-BAC8-2BB4DA616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114800"/>
            <a:ext cx="433387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31 horas</a:t>
            </a:r>
          </a:p>
        </p:txBody>
      </p:sp>
      <p:sp>
        <p:nvSpPr>
          <p:cNvPr id="10" name="no contador do goal">
            <a:extLst xmlns:a="http://schemas.openxmlformats.org/drawingml/2006/main">
              <a:ext uri="{FF2B5EF4-FFF2-40B4-BE49-F238E27FC236}">
                <a16:creationId xmlns:a16="http://schemas.microsoft.com/office/drawing/2014/main" id="{E5BF73C7-D953-4338-BA27-C652301C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962525"/>
            <a:ext cx="4381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no contador do goal</a:t>
            </a:r>
          </a:p>
        </p:txBody>
      </p:sp>
      <p:sp>
        <p:nvSpPr>
          <p:cNvPr id="11" name="O artigo foi revisado após o goal. Nenhum título foi co">
            <a:extLst xmlns:a="http://schemas.openxmlformats.org/drawingml/2006/main">
              <a:ext uri="{FF2B5EF4-FFF2-40B4-BE49-F238E27FC236}">
                <a16:creationId xmlns:a16="http://schemas.microsoft.com/office/drawing/2014/main" id="{CB53FA09-8B27-4CAF-ADA0-929B5C63D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715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C4D6DF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C4D6DF"/>
                </a:solidFill>
                <a:latin typeface="Arial"/>
                <a:ea typeface="Arial"/>
                <a:cs typeface="Arial"/>
              </a:rPr>
              <a:t>O artigo foi revisado após o goal. Nenhum título foi concedido.</a:t>
            </a:r>
          </a:p>
        </p:txBody>
      </p:sp>
    </p:spTree>
    <p:extLst>
      <p:ext uri="{BB962C8B-B14F-4D97-AF65-F5344CB8AC3E}">
        <p14:creationId xmlns:p14="http://schemas.microsoft.com/office/powerpoint/2010/main" val="61265456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O que o diploma deve atestar?">
            <a:extLst xmlns:a="http://schemas.openxmlformats.org/drawingml/2006/main">
              <a:ext uri="{FF2B5EF4-FFF2-40B4-BE49-F238E27FC236}">
                <a16:creationId xmlns:a16="http://schemas.microsoft.com/office/drawing/2014/main" id="{21B44C19-36AC-47BA-8516-16CFC19EF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 que o diploma deve atestar?</a:t>
            </a:r>
          </a:p>
        </p:txBody>
      </p:sp>
      <p:sp>
        <p:nvSpPr>
          <p:cNvPr id="2" name="2 / 15">
            <a:extLst xmlns:a="http://schemas.openxmlformats.org/drawingml/2006/main">
              <a:ext uri="{FF2B5EF4-FFF2-40B4-BE49-F238E27FC236}">
                <a16:creationId xmlns:a16="http://schemas.microsoft.com/office/drawing/2014/main" id="{FF1059B0-6E56-4662-96CF-76AEB68CF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2 / 15</a:t>
            </a:r>
          </a:p>
        </p:txBody>
      </p:sp>
      <p:sp>
        <p:nvSpPr>
          <p:cNvPr id="3" name="Se um agente produz&#10;a dissertação,">
            <a:extLst xmlns:a="http://schemas.openxmlformats.org/drawingml/2006/main">
              <a:ext uri="{FF2B5EF4-FFF2-40B4-BE49-F238E27FC236}">
                <a16:creationId xmlns:a16="http://schemas.microsoft.com/office/drawing/2014/main" id="{166A68F2-4BDA-4B6A-9566-B08D4F9F4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Se um agente produz</a:t>
            </a:r>
          </a:p>
          <a:p xmlns:a="http://schemas.openxmlformats.org/drawingml/2006/main">
            <a:pPr>
              <a:defRPr sz="4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dissertação,</a:t>
            </a:r>
          </a:p>
        </p:txBody>
      </p:sp>
      <p:sp>
        <p:nvSpPr>
          <p:cNvPr id="4" name="como demonstramos&#10;a formação do pesquisador?">
            <a:extLst xmlns:a="http://schemas.openxmlformats.org/drawingml/2006/main">
              <a:ext uri="{FF2B5EF4-FFF2-40B4-BE49-F238E27FC236}">
                <a16:creationId xmlns:a16="http://schemas.microsoft.com/office/drawing/2014/main" id="{E5A4016E-5464-4886-B3D3-F63883A9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95700"/>
            <a:ext cx="106680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como demonstramos</a:t>
            </a:r>
          </a:p>
          <a:p xmlns:a="http://schemas.openxmlformats.org/drawingml/2006/main">
            <a:pPr>
              <a:defRPr sz="43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3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formação do pesquisador?</a:t>
            </a:r>
          </a:p>
        </p:txBody>
      </p:sp>
    </p:spTree>
    <p:extLst>
      <p:ext uri="{BB962C8B-B14F-4D97-AF65-F5344CB8AC3E}">
        <p14:creationId xmlns:p14="http://schemas.microsoft.com/office/powerpoint/2010/main" val="13151674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Uma intenção ampla, um TG de partida">
            <a:extLst xmlns:a="http://schemas.openxmlformats.org/drawingml/2006/main">
              <a:ext uri="{FF2B5EF4-FFF2-40B4-BE49-F238E27FC236}">
                <a16:creationId xmlns:a16="http://schemas.microsoft.com/office/drawing/2014/main" id="{17C4195F-C78C-4E9F-86A2-7AF54A1F8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Uma intenção ampla, um TG de partida</a:t>
            </a:r>
          </a:p>
        </p:txBody>
      </p:sp>
      <p:sp>
        <p:nvSpPr>
          <p:cNvPr id="2" name="3 / 15">
            <a:extLst xmlns:a="http://schemas.openxmlformats.org/drawingml/2006/main">
              <a:ext uri="{FF2B5EF4-FFF2-40B4-BE49-F238E27FC236}">
                <a16:creationId xmlns:a16="http://schemas.microsoft.com/office/drawing/2014/main" id="{A72D12A8-ADE0-4909-AE5D-E1414A6D0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3 / 15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5698a864944e06"/>
          <a:stretch xmlns:a="http://schemas.openxmlformats.org/drawingml/2006/main"/>
        </p:blipFill>
        <p:spPr>
          <a:xfrm xmlns:a="http://schemas.openxmlformats.org/drawingml/2006/main">
            <a:off x="703932" y="1685925"/>
            <a:ext cx="2916487" cy="4124325"/>
          </a:xfrm>
          <a:prstGeom xmlns:a="http://schemas.openxmlformats.org/drawingml/2006/main" prst="rect">
            <a:avLst/>
          </a:prstGeom>
        </p:spPr>
      </p:pic>
      <p:sp>
        <p:nvSpPr>
          <p:cNvPr id="4" name="Propor uma continuação.&#10;Implementar e validar.&#10;Escrever">
            <a:extLst xmlns:a="http://schemas.openxmlformats.org/drawingml/2006/main">
              <a:ext uri="{FF2B5EF4-FFF2-40B4-BE49-F238E27FC236}">
                <a16:creationId xmlns:a16="http://schemas.microsoft.com/office/drawing/2014/main" id="{E84B6842-887B-4EF5-ADC3-6DB367AA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09775"/>
            <a:ext cx="7048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Propor uma continuação.</a:t>
            </a:r>
          </a:p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Implementar e validar.</a:t>
            </a:r>
          </a:p>
          <a:p xmlns:a="http://schemas.openxmlformats.org/drawingml/2006/main">
            <a:pPr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Escrever a dissertação.</a:t>
            </a:r>
          </a:p>
        </p:txBody>
      </p:sp>
      <p:sp>
        <p:nvSpPr>
          <p:cNvPr id="5" name="O proponente não dominava o tema&#10;e não forneceu uma hip">
            <a:extLst xmlns:a="http://schemas.openxmlformats.org/drawingml/2006/main">
              <a:ext uri="{FF2B5EF4-FFF2-40B4-BE49-F238E27FC236}">
                <a16:creationId xmlns:a16="http://schemas.microsoft.com/office/drawing/2014/main" id="{A6850E84-0E59-45A2-A2E6-9A321066E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81525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O proponente não dominava o tema</a:t>
            </a:r>
          </a:p>
          <a:p xmlns:a="http://schemas.openxmlformats.org/drawingml/2006/main">
            <a:pPr>
              <a:defRPr sz="2250" b="0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087F8C"/>
                </a:solidFill>
                <a:latin typeface="Arial"/>
                <a:ea typeface="Arial"/>
                <a:cs typeface="Arial"/>
              </a:rPr>
              <a:t>e não forneceu uma hipótese nova.</a:t>
            </a:r>
          </a:p>
        </p:txBody>
      </p:sp>
    </p:spTree>
    <p:extLst>
      <p:ext uri="{BB962C8B-B14F-4D97-AF65-F5344CB8AC3E}">
        <p14:creationId xmlns:p14="http://schemas.microsoft.com/office/powerpoint/2010/main" val="9117231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A delegação e a revisão">
            <a:extLst xmlns:a="http://schemas.openxmlformats.org/drawingml/2006/main">
              <a:ext uri="{FF2B5EF4-FFF2-40B4-BE49-F238E27FC236}">
                <a16:creationId xmlns:a16="http://schemas.microsoft.com/office/drawing/2014/main" id="{8ED4DCFE-D1EA-4679-9158-7BB08FE5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delegação e a revisão</a:t>
            </a:r>
          </a:p>
        </p:txBody>
      </p:sp>
      <p:sp>
        <p:nvSpPr>
          <p:cNvPr id="2" name="4 / 15">
            <a:extLst xmlns:a="http://schemas.openxmlformats.org/drawingml/2006/main">
              <a:ext uri="{FF2B5EF4-FFF2-40B4-BE49-F238E27FC236}">
                <a16:creationId xmlns:a16="http://schemas.microsoft.com/office/drawing/2014/main" id="{1A265711-3920-47CC-A45C-F73B3348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4 / 15</a:t>
            </a:r>
          </a:p>
        </p:txBody>
      </p:sp>
      <p:sp>
        <p:nvSpPr>
          <p:cNvPr id="3" name="Usuário">
            <a:extLst xmlns:a="http://schemas.openxmlformats.org/drawingml/2006/main">
              <a:ext uri="{FF2B5EF4-FFF2-40B4-BE49-F238E27FC236}">
                <a16:creationId xmlns:a16="http://schemas.microsoft.com/office/drawing/2014/main" id="{226E4621-5020-448E-B44B-6029A359F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Usuário</a:t>
            </a:r>
          </a:p>
        </p:txBody>
      </p:sp>
      <p:sp>
        <p:nvSpPr>
          <p:cNvPr id="4" name="Codex Astra">
            <a:extLst xmlns:a="http://schemas.openxmlformats.org/drawingml/2006/main">
              <a:ext uri="{FF2B5EF4-FFF2-40B4-BE49-F238E27FC236}">
                <a16:creationId xmlns:a16="http://schemas.microsoft.com/office/drawing/2014/main" id="{E735D9D1-C61B-4615-BE47-4DC9FDBA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6220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Codex Astra</a:t>
            </a:r>
          </a:p>
        </p:txBody>
      </p:sp>
      <p:sp>
        <p:nvSpPr>
          <p:cNvPr id="5" name="Gemini">
            <a:extLst xmlns:a="http://schemas.openxmlformats.org/drawingml/2006/main">
              <a:ext uri="{FF2B5EF4-FFF2-40B4-BE49-F238E27FC236}">
                <a16:creationId xmlns:a16="http://schemas.microsoft.com/office/drawing/2014/main" id="{F2E2890F-D8ED-4229-BAA4-32A3A7987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62200"/>
            <a:ext cx="271462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324D"/>
          </a:solidFill>
          <a:ln xmlns:a="http://schemas.openxmlformats.org/drawingml/2006/main" w="0">
            <a:solidFill>
              <a:srgbClr val="17324D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Gemini</a:t>
            </a:r>
          </a:p>
        </p:txBody>
      </p:sp>
      <p:cxnSp>
        <p:nvCxnSpPr>
          <p:cNvPr id="17" name=""/>
          <p:cNvCxnSpPr>
            <a:stCxn xmlns:a="http://schemas.openxmlformats.org/drawingml/2006/main" id="3" idx="3"/>
            <a:endCxn xmlns:a="http://schemas.openxmlformats.org/drawingml/2006/main" id="4" idx="1"/>
          </p:cNvCxnSpPr>
          <p:nvPr/>
        </p:nvCxnSpPr>
        <p:spPr>
          <a:xfrm xmlns:a="http://schemas.openxmlformats.org/drawingml/2006/main">
            <a:off x="3400425" y="2838450"/>
            <a:ext cx="1266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8C"/>
            </a:solidFill>
            <a:tailEnd type="arrow" w="med" len="med"/>
          </a:ln>
        </p:spPr>
      </p:cxnSp>
      <p:cxnSp>
        <p:nvCxnSpPr>
          <p:cNvPr id="18" name="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7381875" y="2838450"/>
            <a:ext cx="12668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087F8C"/>
            </a:solidFill>
            <a:headEnd type="arrow" w="med" len="med"/>
            <a:tailEnd type="arrow" w="med" len="med"/>
          </a:ln>
        </p:spPr>
      </p:cxnSp>
      <p:sp>
        <p:nvSpPr>
          <p:cNvPr id="8" name="Direção e&#10;acompanhamento">
            <a:extLst xmlns:a="http://schemas.openxmlformats.org/drawingml/2006/main">
              <a:ext uri="{FF2B5EF4-FFF2-40B4-BE49-F238E27FC236}">
                <a16:creationId xmlns:a16="http://schemas.microsoft.com/office/drawing/2014/main" id="{E7531CAB-AEB8-43BF-853C-D3C289870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67125"/>
            <a:ext cx="29527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Direção e</a:t>
            </a:r>
          </a:p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acompanhamento</a:t>
            </a:r>
          </a:p>
        </p:txBody>
      </p:sp>
      <p:sp>
        <p:nvSpPr>
          <p:cNvPr id="9" name="Formulação, código&#10;e escrita">
            <a:extLst xmlns:a="http://schemas.openxmlformats.org/drawingml/2006/main">
              <a:ext uri="{FF2B5EF4-FFF2-40B4-BE49-F238E27FC236}">
                <a16:creationId xmlns:a16="http://schemas.microsoft.com/office/drawing/2014/main" id="{6796EDA7-5085-41A8-8A87-9A300B625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3667125"/>
            <a:ext cx="3143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Formulação, código</a:t>
            </a:r>
          </a:p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e escrita</a:t>
            </a:r>
          </a:p>
        </p:txBody>
      </p:sp>
      <p:sp>
        <p:nvSpPr>
          <p:cNvPr id="10" name="Dois pareceres&#10;encaminhados pelo usuário">
            <a:extLst xmlns:a="http://schemas.openxmlformats.org/drawingml/2006/main">
              <a:ext uri="{FF2B5EF4-FFF2-40B4-BE49-F238E27FC236}">
                <a16:creationId xmlns:a16="http://schemas.microsoft.com/office/drawing/2014/main" id="{5C40B9F9-D712-40D2-A417-0F73A83AF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67125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Dois pareceres</a:t>
            </a:r>
          </a:p>
          <a:p xmlns:a="http://schemas.openxmlformats.org/drawingml/2006/main">
            <a:pPr>
              <a:defRPr sz="2100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encaminhados pelo usuário</a:t>
            </a:r>
          </a:p>
        </p:txBody>
      </p:sp>
      <p:sp>
        <p:nvSpPr>
          <p:cNvPr id="11" name="Três subagentes apoiaram a execução do Codex.">
            <a:extLst xmlns:a="http://schemas.openxmlformats.org/drawingml/2006/main">
              <a:ext uri="{FF2B5EF4-FFF2-40B4-BE49-F238E27FC236}">
                <a16:creationId xmlns:a16="http://schemas.microsoft.com/office/drawing/2014/main" id="{A4AA99D4-B810-4949-9D57-35C68FA7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477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Três subagentes apoiaram a execução do Codex.</a:t>
            </a:r>
          </a:p>
        </p:txBody>
      </p:sp>
    </p:spTree>
    <p:extLst>
      <p:ext uri="{BB962C8B-B14F-4D97-AF65-F5344CB8AC3E}">
        <p14:creationId xmlns:p14="http://schemas.microsoft.com/office/powerpoint/2010/main" val="1735674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A primeira decisão foi descartar caminhos">
            <a:extLst xmlns:a="http://schemas.openxmlformats.org/drawingml/2006/main">
              <a:ext uri="{FF2B5EF4-FFF2-40B4-BE49-F238E27FC236}">
                <a16:creationId xmlns:a16="http://schemas.microsoft.com/office/drawing/2014/main" id="{B1754C76-BB37-4C8B-853E-48FB16E1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primeira decisão foi descartar caminhos</a:t>
            </a:r>
          </a:p>
        </p:txBody>
      </p:sp>
      <p:sp>
        <p:nvSpPr>
          <p:cNvPr id="2" name="5 / 15">
            <a:extLst xmlns:a="http://schemas.openxmlformats.org/drawingml/2006/main">
              <a:ext uri="{FF2B5EF4-FFF2-40B4-BE49-F238E27FC236}">
                <a16:creationId xmlns:a16="http://schemas.microsoft.com/office/drawing/2014/main" id="{0C299F65-2CEE-4868-AC9A-C73844389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5 / 15</a:t>
            </a:r>
          </a:p>
        </p:txBody>
      </p:sp>
      <p:sp>
        <p:nvSpPr>
          <p:cNvPr id="3" name="2003 / 2004">
            <a:extLst xmlns:a="http://schemas.openxmlformats.org/drawingml/2006/main">
              <a:ext uri="{FF2B5EF4-FFF2-40B4-BE49-F238E27FC236}">
                <a16:creationId xmlns:a16="http://schemas.microsoft.com/office/drawing/2014/main" id="{57B9B6BB-7FF7-4236-B174-2DACE56A0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2003 / 2004</a:t>
            </a:r>
          </a:p>
        </p:txBody>
      </p:sp>
      <p:sp>
        <p:nvSpPr>
          <p:cNvPr id="4" name="O TG já tinha resultados publicados.">
            <a:extLst xmlns:a="http://schemas.openxmlformats.org/drawingml/2006/main">
              <a:ext uri="{FF2B5EF4-FFF2-40B4-BE49-F238E27FC236}">
                <a16:creationId xmlns:a16="http://schemas.microsoft.com/office/drawing/2014/main" id="{E8310867-DD99-40D0-8C64-79EEFDA60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7334250" cy="904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 TG já tinha resultados publicados.</a:t>
            </a:r>
          </a:p>
        </p:txBody>
      </p:sp>
      <p:sp>
        <p:nvSpPr>
          <p:cNvPr id="5" name="2026">
            <a:extLst xmlns:a="http://schemas.openxmlformats.org/drawingml/2006/main">
              <a:ext uri="{FF2B5EF4-FFF2-40B4-BE49-F238E27FC236}">
                <a16:creationId xmlns:a16="http://schemas.microsoft.com/office/drawing/2014/main" id="{F7E65529-5A80-4A45-B0DC-2A2073C92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29000"/>
            <a:ext cx="2952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6" name="A literatura sugeriu uma comparação&#10;ainda a testar.">
            <a:extLst xmlns:a="http://schemas.openxmlformats.org/drawingml/2006/main">
              <a:ext uri="{FF2B5EF4-FFF2-40B4-BE49-F238E27FC236}">
                <a16:creationId xmlns:a16="http://schemas.microsoft.com/office/drawing/2014/main" id="{89A0B032-FCC0-4C46-97A5-0BD17857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19475"/>
            <a:ext cx="73342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literatura sugeriu uma comparação</a:t>
            </a:r>
          </a:p>
          <a:p xmlns:a="http://schemas.openxmlformats.org/drawingml/2006/main">
            <a:pPr>
              <a:defRPr sz="27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ainda a testar.</a:t>
            </a:r>
          </a:p>
        </p:txBody>
      </p:sp>
      <p:sp>
        <p:nvSpPr>
          <p:cNvPr id="7" name="Pergunta escolhida: quando simplificar os dados muda a ">
            <a:extLst xmlns:a="http://schemas.openxmlformats.org/drawingml/2006/main">
              <a:ext uri="{FF2B5EF4-FFF2-40B4-BE49-F238E27FC236}">
                <a16:creationId xmlns:a16="http://schemas.microsoft.com/office/drawing/2014/main" id="{B2FEAD5E-8467-4C9A-AD38-04CEF892B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86375"/>
            <a:ext cx="10668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BC5A3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BC5A3D"/>
                </a:solidFill>
                <a:latin typeface="Arial"/>
                <a:ea typeface="Arial"/>
                <a:cs typeface="Arial"/>
              </a:rPr>
              <a:t>Pergunta escolhida: quando simplificar os dados muda a resposta?</a:t>
            </a:r>
          </a:p>
        </p:txBody>
      </p:sp>
    </p:spTree>
    <p:extLst>
      <p:ext uri="{BB962C8B-B14F-4D97-AF65-F5344CB8AC3E}">
        <p14:creationId xmlns:p14="http://schemas.microsoft.com/office/powerpoint/2010/main" val="1767381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Um teste encontrou confiança excessiva">
            <a:extLst xmlns:a="http://schemas.openxmlformats.org/drawingml/2006/main">
              <a:ext uri="{FF2B5EF4-FFF2-40B4-BE49-F238E27FC236}">
                <a16:creationId xmlns:a16="http://schemas.microsoft.com/office/drawing/2014/main" id="{5640F725-5EE7-4AB1-B075-223E69675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Um teste encontrou confiança excessiva</a:t>
            </a:r>
          </a:p>
        </p:txBody>
      </p:sp>
      <p:sp>
        <p:nvSpPr>
          <p:cNvPr id="2" name="6 / 15">
            <a:extLst xmlns:a="http://schemas.openxmlformats.org/drawingml/2006/main">
              <a:ext uri="{FF2B5EF4-FFF2-40B4-BE49-F238E27FC236}">
                <a16:creationId xmlns:a16="http://schemas.microsoft.com/office/drawing/2014/main" id="{3E9CA54E-F457-4333-9BCD-A13C5E07A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6 / 15</a:t>
            </a:r>
          </a:p>
        </p:txBody>
      </p:sp>
      <p:sp>
        <p:nvSpPr>
          <p:cNvPr id="3" name="90%">
            <a:extLst xmlns:a="http://schemas.openxmlformats.org/drawingml/2006/main">
              <a:ext uri="{FF2B5EF4-FFF2-40B4-BE49-F238E27FC236}">
                <a16:creationId xmlns:a16="http://schemas.microsoft.com/office/drawing/2014/main" id="{7D9B5EE7-822D-470B-8167-2F3E25EEF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90%</a:t>
            </a:r>
          </a:p>
        </p:txBody>
      </p:sp>
      <p:sp>
        <p:nvSpPr>
          <p:cNvPr id="4" name="era a cobertura anunciada">
            <a:extLst xmlns:a="http://schemas.openxmlformats.org/drawingml/2006/main">
              <a:ext uri="{FF2B5EF4-FFF2-40B4-BE49-F238E27FC236}">
                <a16:creationId xmlns:a16="http://schemas.microsoft.com/office/drawing/2014/main" id="{BD391DB6-1DF7-4661-9030-F9CD276A4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86125"/>
            <a:ext cx="4953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era a cobertura anunciada</a:t>
            </a:r>
          </a:p>
        </p:txBody>
      </p:sp>
      <p:sp>
        <p:nvSpPr>
          <p:cNvPr id="5" name="62,6%">
            <a:extLst xmlns:a="http://schemas.openxmlformats.org/drawingml/2006/main">
              <a:ext uri="{FF2B5EF4-FFF2-40B4-BE49-F238E27FC236}">
                <a16:creationId xmlns:a16="http://schemas.microsoft.com/office/drawing/2014/main" id="{263E32DB-9ADC-49B3-8E80-3A810ED33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1905000"/>
            <a:ext cx="485775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6750" b="1">
                <a:solidFill>
                  <a:srgbClr val="BC5A3D"/>
                </a:solidFill>
                <a:latin typeface="Arial"/>
                <a:ea typeface="Arial"/>
                <a:cs typeface="Arial"/>
              </a:defRPr>
            </a:pPr>
            <a:r>
              <a:rPr sz="6750" b="1">
                <a:solidFill>
                  <a:srgbClr val="BC5A3D"/>
                </a:solidFill>
                <a:latin typeface="Arial"/>
                <a:ea typeface="Arial"/>
                <a:cs typeface="Arial"/>
              </a:rPr>
              <a:t>62,6%</a:t>
            </a:r>
          </a:p>
        </p:txBody>
      </p:sp>
      <p:sp>
        <p:nvSpPr>
          <p:cNvPr id="6" name="foi a cobertura no teste">
            <a:extLst xmlns:a="http://schemas.openxmlformats.org/drawingml/2006/main">
              <a:ext uri="{FF2B5EF4-FFF2-40B4-BE49-F238E27FC236}">
                <a16:creationId xmlns:a16="http://schemas.microsoft.com/office/drawing/2014/main" id="{AED9A4C4-15DC-4F98-AE3A-81D5B2618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286125"/>
            <a:ext cx="48577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foi a cobertura no teste</a:t>
            </a:r>
          </a:p>
        </p:txBody>
      </p:sp>
      <p:sp>
        <p:nvSpPr>
          <p:cNvPr id="7" name="Em 313 de 500 casos, a faixa continha a resposta conhec">
            <a:extLst xmlns:a="http://schemas.openxmlformats.org/drawingml/2006/main">
              <a:ext uri="{FF2B5EF4-FFF2-40B4-BE49-F238E27FC236}">
                <a16:creationId xmlns:a16="http://schemas.microsoft.com/office/drawing/2014/main" id="{53994020-1A66-4716-9938-FF17A26E0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81575"/>
            <a:ext cx="10668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Em 313 de 500 casos, a faixa continha a resposta conhecida.</a:t>
            </a:r>
          </a:p>
        </p:txBody>
      </p:sp>
    </p:spTree>
    <p:extLst>
      <p:ext uri="{BB962C8B-B14F-4D97-AF65-F5344CB8AC3E}">
        <p14:creationId xmlns:p14="http://schemas.microsoft.com/office/powerpoint/2010/main" val="16450069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Uma IA criticou. A outra conferiu.">
            <a:extLst xmlns:a="http://schemas.openxmlformats.org/drawingml/2006/main">
              <a:ext uri="{FF2B5EF4-FFF2-40B4-BE49-F238E27FC236}">
                <a16:creationId xmlns:a16="http://schemas.microsoft.com/office/drawing/2014/main" id="{D62FB954-3ADE-4F75-98E4-6B0CB47A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Uma IA criticou. A outra conferiu.</a:t>
            </a:r>
          </a:p>
        </p:txBody>
      </p:sp>
      <p:sp>
        <p:nvSpPr>
          <p:cNvPr id="2" name="7 / 15">
            <a:extLst xmlns:a="http://schemas.openxmlformats.org/drawingml/2006/main">
              <a:ext uri="{FF2B5EF4-FFF2-40B4-BE49-F238E27FC236}">
                <a16:creationId xmlns:a16="http://schemas.microsoft.com/office/drawing/2014/main" id="{7571B37B-CD52-4C95-8A19-D62B7C35D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CC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8"/>
                </a:solidFill>
                <a:latin typeface="Arial"/>
                <a:ea typeface="Arial"/>
                <a:cs typeface="Arial"/>
              </a:rPr>
              <a:t>7 / 15</a:t>
            </a:r>
          </a:p>
        </p:txBody>
      </p:sp>
      <p:sp>
        <p:nvSpPr>
          <p:cNvPr id="3" name="Crítica à dissertação">
            <a:extLst xmlns:a="http://schemas.openxmlformats.org/drawingml/2006/main">
              <a:ext uri="{FF2B5EF4-FFF2-40B4-BE49-F238E27FC236}">
                <a16:creationId xmlns:a16="http://schemas.microsoft.com/office/drawing/2014/main" id="{C7FC61E3-C687-429C-AD31-A61E980D6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33575"/>
            <a:ext cx="5095875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8DCE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DCE1"/>
                </a:solidFill>
                <a:latin typeface="Arial"/>
                <a:ea typeface="Arial"/>
                <a:cs typeface="Arial"/>
              </a:rPr>
              <a:t>Crítica à dissertação</a:t>
            </a:r>
          </a:p>
        </p:txBody>
      </p:sp>
      <p:sp>
        <p:nvSpPr>
          <p:cNvPr id="4" name="50 casos adicionais&#10;300 análises">
            <a:extLst xmlns:a="http://schemas.openxmlformats.org/drawingml/2006/main">
              <a:ext uri="{FF2B5EF4-FFF2-40B4-BE49-F238E27FC236}">
                <a16:creationId xmlns:a16="http://schemas.microsoft.com/office/drawing/2014/main" id="{FE748477-9D44-4164-B8AD-F524A2AA7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5095875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50 casos adicionais</a:t>
            </a:r>
          </a:p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300 análises</a:t>
            </a:r>
          </a:p>
        </p:txBody>
      </p:sp>
      <p:sp>
        <p:nvSpPr>
          <p:cNvPr id="5" name="Crítica ao manuscrito">
            <a:extLst xmlns:a="http://schemas.openxmlformats.org/drawingml/2006/main">
              <a:ext uri="{FF2B5EF4-FFF2-40B4-BE49-F238E27FC236}">
                <a16:creationId xmlns:a16="http://schemas.microsoft.com/office/drawing/2014/main" id="{A41D2048-FDD3-4CE9-9B8A-DDDC1BC4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933575"/>
            <a:ext cx="4762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8DCE1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8DCE1"/>
                </a:solidFill>
                <a:latin typeface="Arial"/>
                <a:ea typeface="Arial"/>
                <a:cs typeface="Arial"/>
              </a:rPr>
              <a:t>Crítica ao manuscrito</a:t>
            </a:r>
          </a:p>
        </p:txBody>
      </p:sp>
      <p:sp>
        <p:nvSpPr>
          <p:cNvPr id="6" name="Revisão do texto&#10;Recusa de extrapolações">
            <a:extLst xmlns:a="http://schemas.openxmlformats.org/drawingml/2006/main">
              <a:ext uri="{FF2B5EF4-FFF2-40B4-BE49-F238E27FC236}">
                <a16:creationId xmlns:a16="http://schemas.microsoft.com/office/drawing/2014/main" id="{4FF376EF-B240-43ED-A71C-0F71CA084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00375"/>
            <a:ext cx="4762500" cy="1476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Revisão do texto</a:t>
            </a:r>
          </a:p>
          <a:p xmlns:a="http://schemas.openxmlformats.org/drawingml/2006/main">
            <a:pPr>
              <a:defRPr sz="29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Recusa de extrapolações</a:t>
            </a:r>
          </a:p>
        </p:txBody>
      </p:sp>
      <p:sp>
        <p:nvSpPr>
          <p:cNvPr id="7" name="Falhar na simulação não prova falha inevitável em dados">
            <a:extLst xmlns:a="http://schemas.openxmlformats.org/drawingml/2006/main">
              <a:ext uri="{FF2B5EF4-FFF2-40B4-BE49-F238E27FC236}">
                <a16:creationId xmlns:a16="http://schemas.microsoft.com/office/drawing/2014/main" id="{108B47C3-30FB-4AF0-A629-0D62C3A47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763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C4D6D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C4D6DF"/>
                </a:solidFill>
                <a:latin typeface="Arial"/>
                <a:ea typeface="Arial"/>
                <a:cs typeface="Arial"/>
              </a:rPr>
              <a:t>Falhar na simulação não prova falha inevitável em dados reais.</a:t>
            </a:r>
          </a:p>
        </p:txBody>
      </p:sp>
    </p:spTree>
    <p:extLst>
      <p:ext uri="{BB962C8B-B14F-4D97-AF65-F5344CB8AC3E}">
        <p14:creationId xmlns:p14="http://schemas.microsoft.com/office/powerpoint/2010/main" val="8376365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Concluir a tarefa não encerrou a pergunta">
            <a:extLst xmlns:a="http://schemas.openxmlformats.org/drawingml/2006/main">
              <a:ext uri="{FF2B5EF4-FFF2-40B4-BE49-F238E27FC236}">
                <a16:creationId xmlns:a16="http://schemas.microsoft.com/office/drawing/2014/main" id="{F24F8C9C-C0A8-4F74-80D0-F922271EB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Concluir a tarefa não encerrou a pergunta</a:t>
            </a:r>
          </a:p>
        </p:txBody>
      </p:sp>
      <p:sp>
        <p:nvSpPr>
          <p:cNvPr id="2" name="8 / 15">
            <a:extLst xmlns:a="http://schemas.openxmlformats.org/drawingml/2006/main">
              <a:ext uri="{FF2B5EF4-FFF2-40B4-BE49-F238E27FC236}">
                <a16:creationId xmlns:a16="http://schemas.microsoft.com/office/drawing/2014/main" id="{61EBBD58-BAA0-4C9C-BB68-AFB16A782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8 / 15</a:t>
            </a:r>
          </a:p>
        </p:txBody>
      </p:sp>
      <p:sp>
        <p:nvSpPr>
          <p:cNvPr id="3" name="Plano concluído">
            <a:extLst xmlns:a="http://schemas.openxmlformats.org/drawingml/2006/main">
              <a:ext uri="{FF2B5EF4-FFF2-40B4-BE49-F238E27FC236}">
                <a16:creationId xmlns:a16="http://schemas.microsoft.com/office/drawing/2014/main" id="{84EF6155-9102-4E38-876F-6C8E8AD3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57375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1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41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Plano concluído</a:t>
            </a:r>
          </a:p>
        </p:txBody>
      </p:sp>
      <p:sp>
        <p:nvSpPr>
          <p:cNvPr id="4" name="Comparação ampla&#10;ainda inconclusiva">
            <a:extLst xmlns:a="http://schemas.openxmlformats.org/drawingml/2006/main">
              <a:ext uri="{FF2B5EF4-FFF2-40B4-BE49-F238E27FC236}">
                <a16:creationId xmlns:a16="http://schemas.microsoft.com/office/drawing/2014/main" id="{B4AF2511-6F54-485E-8256-E39AF8DEF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76575"/>
            <a:ext cx="10287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Comparação ampla</a:t>
            </a:r>
          </a:p>
          <a:p xmlns:a="http://schemas.openxmlformats.org/drawingml/2006/main">
            <a:pPr>
              <a:defRPr sz="45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ainda inconclusiva</a:t>
            </a:r>
          </a:p>
        </p:txBody>
      </p:sp>
      <p:sp>
        <p:nvSpPr>
          <p:cNvPr id="5" name="A resposta mais restrita e o uso de dados simulados&#10;con">
            <a:extLst xmlns:a="http://schemas.openxmlformats.org/drawingml/2006/main">
              <a:ext uri="{FF2B5EF4-FFF2-40B4-BE49-F238E27FC236}">
                <a16:creationId xmlns:a16="http://schemas.microsoft.com/office/drawing/2014/main" id="{7078EE2D-4181-4D6E-8F94-5102875D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038225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A resposta mais restrita e o uso de dados simulados</a:t>
            </a:r>
          </a:p>
          <a:p xmlns:a="http://schemas.openxmlformats.org/drawingml/2006/main">
            <a:pPr>
              <a:defRPr sz="232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continuaram explícitos no trabalho.</a:t>
            </a:r>
          </a:p>
        </p:txBody>
      </p:sp>
    </p:spTree>
    <p:extLst>
      <p:ext uri="{BB962C8B-B14F-4D97-AF65-F5344CB8AC3E}">
        <p14:creationId xmlns:p14="http://schemas.microsoft.com/office/powerpoint/2010/main" val="55960252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Escala e custo do experimento">
            <a:extLst xmlns:a="http://schemas.openxmlformats.org/drawingml/2006/main">
              <a:ext uri="{FF2B5EF4-FFF2-40B4-BE49-F238E27FC236}">
                <a16:creationId xmlns:a16="http://schemas.microsoft.com/office/drawing/2014/main" id="{507E47CC-4A57-47D9-8023-4C43CCF48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Escala e custo do experimento</a:t>
            </a:r>
          </a:p>
        </p:txBody>
      </p:sp>
      <p:sp>
        <p:nvSpPr>
          <p:cNvPr id="2" name="9 / 15">
            <a:extLst xmlns:a="http://schemas.openxmlformats.org/drawingml/2006/main">
              <a:ext uri="{FF2B5EF4-FFF2-40B4-BE49-F238E27FC236}">
                <a16:creationId xmlns:a16="http://schemas.microsoft.com/office/drawing/2014/main" id="{A5C8FFD4-4A13-44A1-9643-5536A150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9 / 15</a:t>
            </a:r>
          </a:p>
        </p:txBody>
      </p:sp>
      <p:sp>
        <p:nvSpPr>
          <p:cNvPr id="3" name="26.069">
            <a:extLst xmlns:a="http://schemas.openxmlformats.org/drawingml/2006/main">
              <a:ext uri="{FF2B5EF4-FFF2-40B4-BE49-F238E27FC236}">
                <a16:creationId xmlns:a16="http://schemas.microsoft.com/office/drawing/2014/main" id="{33A45D00-D30E-4162-9CF6-2FE39B30D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59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26.069</a:t>
            </a:r>
          </a:p>
        </p:txBody>
      </p:sp>
      <p:sp>
        <p:nvSpPr>
          <p:cNvPr id="4" name="linhas em código e testes">
            <a:extLst xmlns:a="http://schemas.openxmlformats.org/drawingml/2006/main">
              <a:ext uri="{FF2B5EF4-FFF2-40B4-BE49-F238E27FC236}">
                <a16:creationId xmlns:a16="http://schemas.microsoft.com/office/drawing/2014/main" id="{5D6A9A0C-51CF-4F0A-A308-2374487F4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48000"/>
            <a:ext cx="50958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linhas em código e testes</a:t>
            </a:r>
          </a:p>
        </p:txBody>
      </p:sp>
      <p:sp>
        <p:nvSpPr>
          <p:cNvPr id="5" name="45.528">
            <a:extLst xmlns:a="http://schemas.openxmlformats.org/drawingml/2006/main">
              <a:ext uri="{FF2B5EF4-FFF2-40B4-BE49-F238E27FC236}">
                <a16:creationId xmlns:a16="http://schemas.microsoft.com/office/drawing/2014/main" id="{E5BC68AA-E3D9-4494-A7B0-7E306F377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1809750"/>
            <a:ext cx="4810125" cy="1095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5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59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45.528</a:t>
            </a:r>
          </a:p>
        </p:txBody>
      </p:sp>
      <p:sp>
        <p:nvSpPr>
          <p:cNvPr id="6" name="análises principais">
            <a:extLst xmlns:a="http://schemas.openxmlformats.org/drawingml/2006/main">
              <a:ext uri="{FF2B5EF4-FFF2-40B4-BE49-F238E27FC236}">
                <a16:creationId xmlns:a16="http://schemas.microsoft.com/office/drawing/2014/main" id="{EA178F52-E6A8-473F-9079-16F073737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048000"/>
            <a:ext cx="4762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análises principais</a:t>
            </a:r>
          </a:p>
        </p:txBody>
      </p:sp>
      <p:sp>
        <p:nvSpPr>
          <p:cNvPr id="7" name="~US$ 50">
            <a:extLst xmlns:a="http://schemas.openxmlformats.org/drawingml/2006/main">
              <a:ext uri="{FF2B5EF4-FFF2-40B4-BE49-F238E27FC236}">
                <a16:creationId xmlns:a16="http://schemas.microsoft.com/office/drawing/2014/main" id="{048AEAB4-BC10-40F9-9F89-21FF0744E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~US$ 50</a:t>
            </a:r>
          </a:p>
        </p:txBody>
      </p:sp>
      <p:sp>
        <p:nvSpPr>
          <p:cNvPr id="8" name="rateio da assinatura informado">
            <a:extLst xmlns:a="http://schemas.openxmlformats.org/drawingml/2006/main">
              <a:ext uri="{FF2B5EF4-FFF2-40B4-BE49-F238E27FC236}">
                <a16:creationId xmlns:a16="http://schemas.microsoft.com/office/drawing/2014/main" id="{97BB8AD7-2C8B-4B92-B16D-7049E7D86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191125"/>
            <a:ext cx="5000625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rateio da assinatura informado</a:t>
            </a:r>
          </a:p>
        </p:txBody>
      </p:sp>
      <p:sp>
        <p:nvSpPr>
          <p:cNvPr id="9" name="~US$ 1.300">
            <a:extLst xmlns:a="http://schemas.openxmlformats.org/drawingml/2006/main">
              <a:ext uri="{FF2B5EF4-FFF2-40B4-BE49-F238E27FC236}">
                <a16:creationId xmlns:a16="http://schemas.microsoft.com/office/drawing/2014/main" id="{4B44B341-43BD-432F-940D-43329D896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324350"/>
            <a:ext cx="4762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6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~US$ 1.300</a:t>
            </a:r>
          </a:p>
        </p:txBody>
      </p:sp>
      <p:sp>
        <p:nvSpPr>
          <p:cNvPr id="10" name="equivalente em API Standard">
            <a:extLst xmlns:a="http://schemas.openxmlformats.org/drawingml/2006/main">
              <a:ext uri="{FF2B5EF4-FFF2-40B4-BE49-F238E27FC236}">
                <a16:creationId xmlns:a16="http://schemas.microsoft.com/office/drawing/2014/main" id="{89D1960C-8F38-4B73-8E04-47F85973F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191125"/>
            <a:ext cx="4762500" cy="695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equivalente em API Standard</a:t>
            </a:r>
          </a:p>
        </p:txBody>
      </p:sp>
      <p:sp>
        <p:nvSpPr>
          <p:cNvPr id="11" name="Volume executado e custo de tokens não medem formação n">
            <a:extLst xmlns:a="http://schemas.openxmlformats.org/drawingml/2006/main">
              <a:ext uri="{FF2B5EF4-FFF2-40B4-BE49-F238E27FC236}">
                <a16:creationId xmlns:a16="http://schemas.microsoft.com/office/drawing/2014/main" id="{D0116185-44C1-4128-9BE7-AB244F10B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24575"/>
            <a:ext cx="10715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Volume executado e custo de tokens não medem formação nem qualidade.</a:t>
            </a:r>
          </a:p>
        </p:txBody>
      </p:sp>
    </p:spTree>
    <p:extLst>
      <p:ext uri="{BB962C8B-B14F-4D97-AF65-F5344CB8AC3E}">
        <p14:creationId xmlns:p14="http://schemas.microsoft.com/office/powerpoint/2010/main" val="162408641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 produto e a pessoa pedem provas distintas">
            <a:extLst xmlns:a="http://schemas.openxmlformats.org/drawingml/2006/main">
              <a:ext uri="{FF2B5EF4-FFF2-40B4-BE49-F238E27FC236}">
                <a16:creationId xmlns:a16="http://schemas.microsoft.com/office/drawing/2014/main" id="{581EF133-CEB8-4D5C-8F2D-07C889378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 produto e a pessoa pedem provas distintas</a:t>
            </a:r>
          </a:p>
        </p:txBody>
      </p:sp>
      <p:sp>
        <p:nvSpPr>
          <p:cNvPr id="2" name="10 / 15">
            <a:extLst xmlns:a="http://schemas.openxmlformats.org/drawingml/2006/main">
              <a:ext uri="{FF2B5EF4-FFF2-40B4-BE49-F238E27FC236}">
                <a16:creationId xmlns:a16="http://schemas.microsoft.com/office/drawing/2014/main" id="{AAB91D6D-2CEF-4830-8AE6-8790B7660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10 / 15</a:t>
            </a:r>
          </a:p>
        </p:txBody>
      </p:sp>
      <p:sp>
        <p:nvSpPr>
          <p:cNvPr id="3" name="Produto científico">
            <a:extLst xmlns:a="http://schemas.openxmlformats.org/drawingml/2006/main">
              <a:ext uri="{FF2B5EF4-FFF2-40B4-BE49-F238E27FC236}">
                <a16:creationId xmlns:a16="http://schemas.microsoft.com/office/drawing/2014/main" id="{889F6331-AD92-44A7-ABC2-A7F240C07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78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Produto científico</a:t>
            </a:r>
          </a:p>
        </p:txBody>
      </p:sp>
      <p:sp>
        <p:nvSpPr>
          <p:cNvPr id="4" name="A pergunta é relevante?&#10;A evidência sustenta a conclusã">
            <a:extLst xmlns:a="http://schemas.openxmlformats.org/drawingml/2006/main">
              <a:ext uri="{FF2B5EF4-FFF2-40B4-BE49-F238E27FC236}">
                <a16:creationId xmlns:a16="http://schemas.microsoft.com/office/drawing/2014/main" id="{5E5653B1-6555-496F-92C6-164B8CB1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52725"/>
            <a:ext cx="495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A pergunta é relevante?</a:t>
            </a:r>
          </a:p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A evidência sustenta a conclusão?</a:t>
            </a:r>
          </a:p>
        </p:txBody>
      </p:sp>
      <p:sp>
        <p:nvSpPr>
          <p:cNvPr id="5" name="Domínio individual">
            <a:extLst xmlns:a="http://schemas.openxmlformats.org/drawingml/2006/main">
              <a:ext uri="{FF2B5EF4-FFF2-40B4-BE49-F238E27FC236}">
                <a16:creationId xmlns:a16="http://schemas.microsoft.com/office/drawing/2014/main" id="{3F33E97D-FE83-4E39-8D0C-28D98A8B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47875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Domínio individual</a:t>
            </a:r>
          </a:p>
        </p:txBody>
      </p:sp>
      <p:sp>
        <p:nvSpPr>
          <p:cNvPr id="6" name="A pessoa explica as escolhas?&#10;Prevê o efeito de uma mud">
            <a:extLst xmlns:a="http://schemas.openxmlformats.org/drawingml/2006/main">
              <a:ext uri="{FF2B5EF4-FFF2-40B4-BE49-F238E27FC236}">
                <a16:creationId xmlns:a16="http://schemas.microsoft.com/office/drawing/2014/main" id="{D098BEA5-6F47-4D2A-8FEE-3D820C1F8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52725"/>
            <a:ext cx="495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A pessoa explica as escolhas?</a:t>
            </a:r>
          </a:p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Prevê o efeito de uma mudança?</a:t>
            </a:r>
          </a:p>
        </p:txBody>
      </p:sp>
      <p:sp>
        <p:nvSpPr>
          <p:cNvPr id="7" name="Detectar o uso de IA não é avaliar aprendizagem.">
            <a:extLst xmlns:a="http://schemas.openxmlformats.org/drawingml/2006/main">
              <a:ext uri="{FF2B5EF4-FFF2-40B4-BE49-F238E27FC236}">
                <a16:creationId xmlns:a16="http://schemas.microsoft.com/office/drawing/2014/main" id="{38E15868-DB89-4232-B865-486ED957B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8640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BC5A3D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BC5A3D"/>
                </a:solidFill>
                <a:latin typeface="Arial"/>
                <a:ea typeface="Arial"/>
                <a:cs typeface="Arial"/>
              </a:rPr>
              <a:t>Detectar o uso de IA não é avaliar aprendizagem.</a:t>
            </a:r>
          </a:p>
        </p:txBody>
      </p:sp>
    </p:spTree>
    <p:extLst>
      <p:ext uri="{BB962C8B-B14F-4D97-AF65-F5344CB8AC3E}">
        <p14:creationId xmlns:p14="http://schemas.microsoft.com/office/powerpoint/2010/main" val="127355275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Mais artigos ou mais conhecimento?">
            <a:extLst xmlns:a="http://schemas.openxmlformats.org/drawingml/2006/main">
              <a:ext uri="{FF2B5EF4-FFF2-40B4-BE49-F238E27FC236}">
                <a16:creationId xmlns:a16="http://schemas.microsoft.com/office/drawing/2014/main" id="{9D51A45A-11CB-47FE-B4D8-6874D4151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Mais artigos ou mais conhecimento?</a:t>
            </a:r>
          </a:p>
        </p:txBody>
      </p:sp>
      <p:sp>
        <p:nvSpPr>
          <p:cNvPr id="2" name="11 / 15">
            <a:extLst xmlns:a="http://schemas.openxmlformats.org/drawingml/2006/main">
              <a:ext uri="{FF2B5EF4-FFF2-40B4-BE49-F238E27FC236}">
                <a16:creationId xmlns:a16="http://schemas.microsoft.com/office/drawing/2014/main" id="{112A75F8-94EF-41F0-9D4A-75C8196FF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CC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8"/>
                </a:solidFill>
                <a:latin typeface="Arial"/>
                <a:ea typeface="Arial"/>
                <a:cs typeface="Arial"/>
              </a:rPr>
              <a:t>11 / 15</a:t>
            </a:r>
          </a:p>
        </p:txBody>
      </p:sp>
      <p:sp>
        <p:nvSpPr>
          <p:cNvPr id="3" name="O que a contribuição&#10;permite saber agora?">
            <a:extLst xmlns:a="http://schemas.openxmlformats.org/drawingml/2006/main">
              <a:ext uri="{FF2B5EF4-FFF2-40B4-BE49-F238E27FC236}">
                <a16:creationId xmlns:a16="http://schemas.microsoft.com/office/drawing/2014/main" id="{1D3A2E71-3AF7-487D-B467-25C73D47E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5950"/>
            <a:ext cx="10715625" cy="1571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a contribuição</a:t>
            </a:r>
          </a:p>
          <a:p xmlns:a="http://schemas.openxmlformats.org/drawingml/2006/main">
            <a:pPr>
              <a:defRPr sz="465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permite saber agora?</a:t>
            </a:r>
          </a:p>
        </p:txBody>
      </p:sp>
      <p:sp>
        <p:nvSpPr>
          <p:cNvPr id="4" name="Uma pequena extensão pode eliminar&#10;uma incerteza import">
            <a:extLst xmlns:a="http://schemas.openxmlformats.org/drawingml/2006/main">
              <a:ext uri="{FF2B5EF4-FFF2-40B4-BE49-F238E27FC236}">
                <a16:creationId xmlns:a16="http://schemas.microsoft.com/office/drawing/2014/main" id="{7BE3E265-588A-418D-9446-9FD6D8F03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24325"/>
            <a:ext cx="10715625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000" b="0">
                <a:solidFill>
                  <a:srgbClr val="B8DCE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8DCE1"/>
                </a:solidFill>
                <a:latin typeface="Arial"/>
                <a:ea typeface="Arial"/>
                <a:cs typeface="Arial"/>
              </a:rPr>
              <a:t>Uma pequena extensão pode eliminar</a:t>
            </a:r>
          </a:p>
          <a:p xmlns:a="http://schemas.openxmlformats.org/drawingml/2006/main">
            <a:pPr>
              <a:defRPr sz="3000" b="0">
                <a:solidFill>
                  <a:srgbClr val="B8DCE1"/>
                </a:solidFill>
                <a:latin typeface="Arial"/>
                <a:ea typeface="Arial"/>
                <a:cs typeface="Arial"/>
              </a:defRPr>
            </a:pPr>
            <a:r>
              <a:rPr sz="3000" b="0">
                <a:solidFill>
                  <a:srgbClr val="B8DCE1"/>
                </a:solidFill>
                <a:latin typeface="Arial"/>
                <a:ea typeface="Arial"/>
                <a:cs typeface="Arial"/>
              </a:rPr>
              <a:t>uma incerteza importante.</a:t>
            </a:r>
          </a:p>
        </p:txBody>
      </p:sp>
      <p:sp>
        <p:nvSpPr>
          <p:cNvPr id="5" name="O caso abre essa discussão; não demonstra colapso dos p">
            <a:extLst xmlns:a="http://schemas.openxmlformats.org/drawingml/2006/main">
              <a:ext uri="{FF2B5EF4-FFF2-40B4-BE49-F238E27FC236}">
                <a16:creationId xmlns:a16="http://schemas.microsoft.com/office/drawing/2014/main" id="{906DC04F-CEEB-4E03-A8E7-0C309B4E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48375"/>
            <a:ext cx="107156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650" b="0">
                <a:solidFill>
                  <a:srgbClr val="C4D6DF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C4D6DF"/>
                </a:solidFill>
                <a:latin typeface="Arial"/>
                <a:ea typeface="Arial"/>
                <a:cs typeface="Arial"/>
              </a:rPr>
              <a:t>O caso abre essa discussão; não demonstra colapso dos periódicos.</a:t>
            </a:r>
          </a:p>
        </p:txBody>
      </p:sp>
    </p:spTree>
    <p:extLst>
      <p:ext uri="{BB962C8B-B14F-4D97-AF65-F5344CB8AC3E}">
        <p14:creationId xmlns:p14="http://schemas.microsoft.com/office/powerpoint/2010/main" val="11444931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O que muda entre simular e medir?">
            <a:extLst xmlns:a="http://schemas.openxmlformats.org/drawingml/2006/main">
              <a:ext uri="{FF2B5EF4-FFF2-40B4-BE49-F238E27FC236}">
                <a16:creationId xmlns:a16="http://schemas.microsoft.com/office/drawing/2014/main" id="{96EC604B-1969-42D7-86F5-5D96092E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 que muda entre simular e medir?</a:t>
            </a:r>
          </a:p>
        </p:txBody>
      </p:sp>
      <p:sp>
        <p:nvSpPr>
          <p:cNvPr id="2" name="12 / 15">
            <a:extLst xmlns:a="http://schemas.openxmlformats.org/drawingml/2006/main">
              <a:ext uri="{FF2B5EF4-FFF2-40B4-BE49-F238E27FC236}">
                <a16:creationId xmlns:a16="http://schemas.microsoft.com/office/drawing/2014/main" id="{8B9C3882-51E5-40B9-BA91-BA77A4789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12 / 15</a:t>
            </a:r>
          </a:p>
        </p:txBody>
      </p:sp>
      <p:sp>
        <p:nvSpPr>
          <p:cNvPr id="3" name="Simulações">
            <a:extLst xmlns:a="http://schemas.openxmlformats.org/drawingml/2006/main">
              <a:ext uri="{FF2B5EF4-FFF2-40B4-BE49-F238E27FC236}">
                <a16:creationId xmlns:a16="http://schemas.microsoft.com/office/drawing/2014/main" id="{C4265306-0498-481D-B8E4-220505D8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Simulações</a:t>
            </a:r>
          </a:p>
        </p:txBody>
      </p:sp>
      <p:sp>
        <p:nvSpPr>
          <p:cNvPr id="4" name="Controles com resposta conhecida&#10;Teste das hipóteses do">
            <a:extLst xmlns:a="http://schemas.openxmlformats.org/drawingml/2006/main">
              <a:ext uri="{FF2B5EF4-FFF2-40B4-BE49-F238E27FC236}">
                <a16:creationId xmlns:a16="http://schemas.microsoft.com/office/drawing/2014/main" id="{E1609388-352E-4F61-ABA0-8993474E5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95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Controles com resposta conhecida</a:t>
            </a:r>
          </a:p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Teste das hipóteses do modelo</a:t>
            </a:r>
          </a:p>
        </p:txBody>
      </p:sp>
      <p:sp>
        <p:nvSpPr>
          <p:cNvPr id="5" name="Medições">
            <a:extLst xmlns:a="http://schemas.openxmlformats.org/drawingml/2006/main">
              <a:ext uri="{FF2B5EF4-FFF2-40B4-BE49-F238E27FC236}">
                <a16:creationId xmlns:a16="http://schemas.microsoft.com/office/drawing/2014/main" id="{9409719D-E443-473E-9593-1B2334DB1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095500"/>
            <a:ext cx="495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Medições</a:t>
            </a:r>
          </a:p>
        </p:txBody>
      </p:sp>
      <p:sp>
        <p:nvSpPr>
          <p:cNvPr id="6" name="Confronto com o fenômeno&#10;Controle do instrumento e do e">
            <a:extLst xmlns:a="http://schemas.openxmlformats.org/drawingml/2006/main">
              <a:ext uri="{FF2B5EF4-FFF2-40B4-BE49-F238E27FC236}">
                <a16:creationId xmlns:a16="http://schemas.microsoft.com/office/drawing/2014/main" id="{839A72D3-5DBE-4F77-87E1-DC87FC63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00350"/>
            <a:ext cx="4953000" cy="2619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Confronto com o fenômeno</a:t>
            </a:r>
          </a:p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Controle do instrumento e do ensaio</a:t>
            </a:r>
          </a:p>
        </p:txBody>
      </p:sp>
      <p:sp>
        <p:nvSpPr>
          <p:cNvPr id="7" name="O diferencial é a força da evidência e de sua interpret">
            <a:extLst xmlns:a="http://schemas.openxmlformats.org/drawingml/2006/main">
              <a:ext uri="{FF2B5EF4-FFF2-40B4-BE49-F238E27FC236}">
                <a16:creationId xmlns:a16="http://schemas.microsoft.com/office/drawing/2014/main" id="{EF221813-FDBD-4890-861B-7865F870B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066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 diferencial é a força da evidência e de sua interpretação.</a:t>
            </a:r>
          </a:p>
        </p:txBody>
      </p:sp>
    </p:spTree>
    <p:extLst>
      <p:ext uri="{BB962C8B-B14F-4D97-AF65-F5344CB8AC3E}">
        <p14:creationId xmlns:p14="http://schemas.microsoft.com/office/powerpoint/2010/main" val="120365466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 orientação pode trabalhar com outra divisão">
            <a:extLst xmlns:a="http://schemas.openxmlformats.org/drawingml/2006/main">
              <a:ext uri="{FF2B5EF4-FFF2-40B4-BE49-F238E27FC236}">
                <a16:creationId xmlns:a16="http://schemas.microsoft.com/office/drawing/2014/main" id="{C26F7EAF-5104-4E3E-A90E-34593C2D2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orientação pode trabalhar com outra divisão</a:t>
            </a:r>
          </a:p>
        </p:txBody>
      </p:sp>
      <p:sp>
        <p:nvSpPr>
          <p:cNvPr id="2" name="13 / 15">
            <a:extLst xmlns:a="http://schemas.openxmlformats.org/drawingml/2006/main">
              <a:ext uri="{FF2B5EF4-FFF2-40B4-BE49-F238E27FC236}">
                <a16:creationId xmlns:a16="http://schemas.microsoft.com/office/drawing/2014/main" id="{5FCE5BC9-86DB-43B0-8E60-6E49746A4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13 / 15</a:t>
            </a:r>
          </a:p>
        </p:txBody>
      </p:sp>
      <p:sp>
        <p:nvSpPr>
          <p:cNvPr id="3" name="O agente amplia&#10;a capacidade de executar.">
            <a:extLst xmlns:a="http://schemas.openxmlformats.org/drawingml/2006/main">
              <a:ext uri="{FF2B5EF4-FFF2-40B4-BE49-F238E27FC236}">
                <a16:creationId xmlns:a16="http://schemas.microsoft.com/office/drawing/2014/main" id="{6C95378C-694D-408D-B365-BE5DB7CE8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71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 agente amplia</a:t>
            </a:r>
          </a:p>
          <a:p xmlns:a="http://schemas.openxmlformats.org/drawingml/2006/main">
            <a:pPr>
              <a:defRPr sz="39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capacidade de executar.</a:t>
            </a:r>
          </a:p>
        </p:txBody>
      </p:sp>
      <p:sp>
        <p:nvSpPr>
          <p:cNvPr id="4" name="A orientação precisa tornar&#10;o julgamento observável.">
            <a:extLst xmlns:a="http://schemas.openxmlformats.org/drawingml/2006/main">
              <a:ext uri="{FF2B5EF4-FFF2-40B4-BE49-F238E27FC236}">
                <a16:creationId xmlns:a16="http://schemas.microsoft.com/office/drawing/2014/main" id="{8019EB41-5913-4D69-ADC1-09CF358A1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715625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 orientação precisa tornar</a:t>
            </a:r>
          </a:p>
          <a:p xmlns:a="http://schemas.openxmlformats.org/drawingml/2006/main">
            <a:pPr>
              <a:defRPr sz="397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97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o julgamento observável.</a:t>
            </a:r>
          </a:p>
        </p:txBody>
      </p:sp>
      <p:sp>
        <p:nvSpPr>
          <p:cNvPr id="5" name="Escolher perguntas. Justificar hipóteses. Decidir quand">
            <a:extLst xmlns:a="http://schemas.openxmlformats.org/drawingml/2006/main">
              <a:ext uri="{FF2B5EF4-FFF2-40B4-BE49-F238E27FC236}">
                <a16:creationId xmlns:a16="http://schemas.microsoft.com/office/drawing/2014/main" id="{05967AFB-CF40-4F09-801C-98E8E875E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668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Escolher perguntas. Justificar hipóteses. Decidir quando parar.</a:t>
            </a:r>
          </a:p>
        </p:txBody>
      </p:sp>
    </p:spTree>
    <p:extLst>
      <p:ext uri="{BB962C8B-B14F-4D97-AF65-F5344CB8AC3E}">
        <p14:creationId xmlns:p14="http://schemas.microsoft.com/office/powerpoint/2010/main" val="114338113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A formação aparece antes da defesa">
            <a:extLst xmlns:a="http://schemas.openxmlformats.org/drawingml/2006/main">
              <a:ext uri="{FF2B5EF4-FFF2-40B4-BE49-F238E27FC236}">
                <a16:creationId xmlns:a16="http://schemas.microsoft.com/office/drawing/2014/main" id="{266E8422-5859-4F44-822C-5A50FC065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formação aparece antes da defesa</a:t>
            </a:r>
          </a:p>
        </p:txBody>
      </p:sp>
      <p:sp>
        <p:nvSpPr>
          <p:cNvPr id="2" name="14 / 15">
            <a:extLst xmlns:a="http://schemas.openxmlformats.org/drawingml/2006/main">
              <a:ext uri="{FF2B5EF4-FFF2-40B4-BE49-F238E27FC236}">
                <a16:creationId xmlns:a16="http://schemas.microsoft.com/office/drawing/2014/main" id="{DAC52916-774A-45B9-A962-A83E2140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14 / 15</a:t>
            </a:r>
          </a:p>
        </p:txBody>
      </p:sp>
      <p:sp>
        <p:nvSpPr>
          <p:cNvPr id="3" name="Antes">
            <a:extLst xmlns:a="http://schemas.openxmlformats.org/drawingml/2006/main">
              <a:ext uri="{FF2B5EF4-FFF2-40B4-BE49-F238E27FC236}">
                <a16:creationId xmlns:a16="http://schemas.microsoft.com/office/drawing/2014/main" id="{D3971198-D7A7-4880-9CAB-9FF50692E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Antes</a:t>
            </a:r>
          </a:p>
        </p:txBody>
      </p:sp>
      <p:sp>
        <p:nvSpPr>
          <p:cNvPr id="4" name="Prever o efeito de uma alteração.">
            <a:extLst xmlns:a="http://schemas.openxmlformats.org/drawingml/2006/main">
              <a:ext uri="{FF2B5EF4-FFF2-40B4-BE49-F238E27FC236}">
                <a16:creationId xmlns:a16="http://schemas.microsoft.com/office/drawing/2014/main" id="{59A71199-AB1B-4FA8-816B-C38FE3E6B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209550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Prever o efeito de uma alteração.</a:t>
            </a:r>
          </a:p>
        </p:txBody>
      </p:sp>
      <p:sp>
        <p:nvSpPr>
          <p:cNvPr id="5" name="Durante">
            <a:extLst xmlns:a="http://schemas.openxmlformats.org/drawingml/2006/main">
              <a:ext uri="{FF2B5EF4-FFF2-40B4-BE49-F238E27FC236}">
                <a16:creationId xmlns:a16="http://schemas.microsoft.com/office/drawing/2014/main" id="{380E568A-B13B-4996-AFC5-2E5EF47D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90875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Durante</a:t>
            </a:r>
          </a:p>
        </p:txBody>
      </p:sp>
      <p:sp>
        <p:nvSpPr>
          <p:cNvPr id="6" name="Explicar o resultado e seus controles.">
            <a:extLst xmlns:a="http://schemas.openxmlformats.org/drawingml/2006/main">
              <a:ext uri="{FF2B5EF4-FFF2-40B4-BE49-F238E27FC236}">
                <a16:creationId xmlns:a16="http://schemas.microsoft.com/office/drawing/2014/main" id="{79B02C11-68AA-473F-8DC3-08DA28658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3190875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Explicar o resultado e seus controles.</a:t>
            </a:r>
          </a:p>
        </p:txBody>
      </p:sp>
      <p:sp>
        <p:nvSpPr>
          <p:cNvPr id="7" name="Na defesa">
            <a:extLst xmlns:a="http://schemas.openxmlformats.org/drawingml/2006/main">
              <a:ext uri="{FF2B5EF4-FFF2-40B4-BE49-F238E27FC236}">
                <a16:creationId xmlns:a16="http://schemas.microsoft.com/office/drawing/2014/main" id="{FCC59FD2-4527-47B4-8D41-048ED6C5A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25241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Na defesa</a:t>
            </a:r>
          </a:p>
        </p:txBody>
      </p:sp>
      <p:sp>
        <p:nvSpPr>
          <p:cNvPr id="8" name="Reconstruir o argumento e seus limites.">
            <a:extLst xmlns:a="http://schemas.openxmlformats.org/drawingml/2006/main">
              <a:ext uri="{FF2B5EF4-FFF2-40B4-BE49-F238E27FC236}">
                <a16:creationId xmlns:a16="http://schemas.microsoft.com/office/drawing/2014/main" id="{25312AC5-2217-4FFD-ACEC-F035B5890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286250"/>
            <a:ext cx="762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Reconstruir o argumento e seus limites.</a:t>
            </a:r>
          </a:p>
        </p:txBody>
      </p:sp>
      <p:sp>
        <p:nvSpPr>
          <p:cNvPr id="9" name="Evidências de domínio acumuladas ao longo do curso.">
            <a:extLst xmlns:a="http://schemas.openxmlformats.org/drawingml/2006/main">
              <a:ext uri="{FF2B5EF4-FFF2-40B4-BE49-F238E27FC236}">
                <a16:creationId xmlns:a16="http://schemas.microsoft.com/office/drawing/2014/main" id="{520C3444-E890-46A8-B16A-C051960C6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Evidências de domínio acumuladas ao longo do curso.</a:t>
            </a:r>
          </a:p>
        </p:txBody>
      </p:sp>
    </p:spTree>
    <p:extLst>
      <p:ext uri="{BB962C8B-B14F-4D97-AF65-F5344CB8AC3E}">
        <p14:creationId xmlns:p14="http://schemas.microsoft.com/office/powerpoint/2010/main" val="74497980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17324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O que passaríamos a exigir?">
            <a:extLst xmlns:a="http://schemas.openxmlformats.org/drawingml/2006/main">
              <a:ext uri="{FF2B5EF4-FFF2-40B4-BE49-F238E27FC236}">
                <a16:creationId xmlns:a16="http://schemas.microsoft.com/office/drawing/2014/main" id="{330F6317-4F35-4ABB-A998-1B876F7B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 que passaríamos a exigir?</a:t>
            </a:r>
          </a:p>
        </p:txBody>
      </p:sp>
      <p:sp>
        <p:nvSpPr>
          <p:cNvPr id="2" name="15 / 15">
            <a:extLst xmlns:a="http://schemas.openxmlformats.org/drawingml/2006/main">
              <a:ext uri="{FF2B5EF4-FFF2-40B4-BE49-F238E27FC236}">
                <a16:creationId xmlns:a16="http://schemas.microsoft.com/office/drawing/2014/main" id="{2261C398-ECBA-4410-A16E-E5E0A8F8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B6CCD8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B6CCD8"/>
                </a:solidFill>
                <a:latin typeface="Arial"/>
                <a:ea typeface="Arial"/>
                <a:cs typeface="Arial"/>
              </a:rPr>
              <a:t>15 / 15</a:t>
            </a:r>
          </a:p>
        </p:txBody>
      </p:sp>
      <p:sp>
        <p:nvSpPr>
          <p:cNvPr id="3" name="Da contribuição científica?">
            <a:extLst xmlns:a="http://schemas.openxmlformats.org/drawingml/2006/main">
              <a:ext uri="{FF2B5EF4-FFF2-40B4-BE49-F238E27FC236}">
                <a16:creationId xmlns:a16="http://schemas.microsoft.com/office/drawing/2014/main" id="{B1D458A8-5510-405C-A06D-ABBEAB77E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40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 contribuição científica?</a:t>
            </a:r>
          </a:p>
        </p:txBody>
      </p:sp>
      <p:sp>
        <p:nvSpPr>
          <p:cNvPr id="4" name="Do domínio do estudante?">
            <a:extLst xmlns:a="http://schemas.openxmlformats.org/drawingml/2006/main">
              <a:ext uri="{FF2B5EF4-FFF2-40B4-BE49-F238E27FC236}">
                <a16:creationId xmlns:a16="http://schemas.microsoft.com/office/drawing/2014/main" id="{D25DCEF0-7E45-4CBF-B822-42729E1D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956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B8DCE1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B8DCE1"/>
                </a:solidFill>
                <a:latin typeface="Arial"/>
                <a:ea typeface="Arial"/>
                <a:cs typeface="Arial"/>
              </a:rPr>
              <a:t>Do domínio do estudante?</a:t>
            </a:r>
          </a:p>
        </p:txBody>
      </p:sp>
      <p:sp>
        <p:nvSpPr>
          <p:cNvPr id="5" name="Do processo de orientação?">
            <a:extLst xmlns:a="http://schemas.openxmlformats.org/drawingml/2006/main">
              <a:ext uri="{FF2B5EF4-FFF2-40B4-BE49-F238E27FC236}">
                <a16:creationId xmlns:a16="http://schemas.microsoft.com/office/drawing/2014/main" id="{C66FBAC7-0B3E-4F32-B646-451C9BD6F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10763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 processo de orientação?</a:t>
            </a:r>
          </a:p>
        </p:txBody>
      </p:sp>
    </p:spTree>
    <p:extLst>
      <p:ext uri="{BB962C8B-B14F-4D97-AF65-F5344CB8AC3E}">
        <p14:creationId xmlns:p14="http://schemas.microsoft.com/office/powerpoint/2010/main" val="585805205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poio: definições das métricas">
            <a:extLst xmlns:a="http://schemas.openxmlformats.org/drawingml/2006/main">
              <a:ext uri="{FF2B5EF4-FFF2-40B4-BE49-F238E27FC236}">
                <a16:creationId xmlns:a16="http://schemas.microsoft.com/office/drawing/2014/main" id="{8301E2F2-48D0-46AC-91A8-F117798A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Apoio: definições das métricas</a:t>
            </a:r>
          </a:p>
        </p:txBody>
      </p:sp>
      <p:sp>
        <p:nvSpPr>
          <p:cNvPr id="2" name="Apoio">
            <a:extLst xmlns:a="http://schemas.openxmlformats.org/drawingml/2006/main">
              <a:ext uri="{FF2B5EF4-FFF2-40B4-BE49-F238E27FC236}">
                <a16:creationId xmlns:a16="http://schemas.microsoft.com/office/drawing/2014/main" id="{624B8D98-D089-4FFA-81F7-6471A9789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Apoio</a:t>
            </a:r>
          </a:p>
        </p:txBody>
      </p: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810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952750"/>
                <a:gridCol w="7867650"/>
              </a:tblGrid>
              <a:tr h="762000">
                <a:tc>
                  <a:txBody>
                    <a:bodyPr lIns="133350" tIns="1143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Medida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Leitura correta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62000"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26.069 linhas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Módulos, scripts e testes, com comentários e vazios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762000"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45.528 análises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Quatro campanhas, com dados compartilhados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762000"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54 h 56 min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Calendário da criação ao encerramento do goal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762000"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30 h 51 min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Contador do goal; não mede tempo de formação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50300773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Apoio: hipóteses da estimativa de custo">
            <a:extLst xmlns:a="http://schemas.openxmlformats.org/drawingml/2006/main">
              <a:ext uri="{FF2B5EF4-FFF2-40B4-BE49-F238E27FC236}">
                <a16:creationId xmlns:a16="http://schemas.microsoft.com/office/drawing/2014/main" id="{D981A0D4-41EA-43A7-A94E-3D95E143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Apoio: hipóteses da estimativa de custo</a:t>
            </a:r>
          </a:p>
        </p:txBody>
      </p:sp>
      <p:sp>
        <p:nvSpPr>
          <p:cNvPr id="2" name="Apoio">
            <a:extLst xmlns:a="http://schemas.openxmlformats.org/drawingml/2006/main">
              <a:ext uri="{FF2B5EF4-FFF2-40B4-BE49-F238E27FC236}">
                <a16:creationId xmlns:a16="http://schemas.microsoft.com/office/drawing/2014/main" id="{F4749A24-8DA5-4892-9D11-5F034A6E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Apoio</a:t>
            </a:r>
          </a:p>
        </p:txBody>
      </p:sp>
      <p:graphicFrame>
        <p:nvGraphicFramePr>
          <p:cNvPr id="8" name=""/>
          <p:cNvGraphicFramePr/>
          <p:nvPr/>
        </p:nvGraphicFramePr>
        <p:xfrm>
          <a:off xmlns:a="http://schemas.openxmlformats.org/drawingml/2006/main" x="685800" y="1762125"/>
          <a:ext xmlns:a="http://schemas.openxmlformats.org/drawingml/2006/main" cx="10820400" cy="300037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5619750"/>
                <a:gridCol w="3105150"/>
                <a:gridCol w="2095500"/>
              </a:tblGrid>
              <a:tr h="750094">
                <a:tc>
                  <a:txBody>
                    <a:bodyPr lIns="133350" tIns="1143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Categoria até o goal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Milhões de tokens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US$</a:t>
                      </a:r>
                    </a:p>
                  </a:txBody>
                  <a:tcPr marL="91440" marR="91440" marT="45720" marB="45720">
                    <a:solidFill>
                      <a:srgbClr val="17324D"/>
                    </a:solidFill>
                  </a:tcPr>
                </a:tc>
              </a:tr>
              <a:tr h="750094"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Entrada nova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20,58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205,84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750094"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Entrada em cache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822,05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822,05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  <a:tr h="750094"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Saída, com raciocínio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5,23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  <a:tc>
                  <a:txBody>
                    <a:bodyPr lIns="133350" tIns="114300" rIns="133350" bIns="76200"/>
                    <a:lstStyle/>
                    <a:p>
                      <a:r>
                        <a:rPr sz="1875" b="0">
                          <a:solidFill>
                            <a:srgbClr val="253643"/>
                          </a:solidFill>
                          <a:latin typeface="Arial"/>
                          <a:ea typeface="Arial"/>
                          <a:cs typeface="Arial"/>
                        </a:rPr>
                        <a:t>261,46</a:t>
                      </a:r>
                    </a:p>
                  </a:txBody>
                  <a:tcPr marL="91440" marR="91440" marT="45720" marB="45720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  <p:sp>
        <p:nvSpPr>
          <p:cNvPr id="4" name="~US$ 1.300 Standard / ~US$ 2.600 Fast">
            <a:extLst xmlns:a="http://schemas.openxmlformats.org/drawingml/2006/main">
              <a:ext uri="{FF2B5EF4-FFF2-40B4-BE49-F238E27FC236}">
                <a16:creationId xmlns:a16="http://schemas.microsoft.com/office/drawing/2014/main" id="{40813012-F620-4D80-97E4-993B39C1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33975"/>
            <a:ext cx="1066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2700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~US$ 1.300 Standard / ~US$ 2.600 Fast</a:t>
            </a:r>
          </a:p>
        </p:txBody>
      </p:sp>
      <p:sp>
        <p:nvSpPr>
          <p:cNvPr id="5" name="Com complementos científicos. Estimativas, não faturas.">
            <a:extLst xmlns:a="http://schemas.openxmlformats.org/drawingml/2006/main">
              <a:ext uri="{FF2B5EF4-FFF2-40B4-BE49-F238E27FC236}">
                <a16:creationId xmlns:a16="http://schemas.microsoft.com/office/drawing/2014/main" id="{A1EDA6FD-F332-494E-98AF-4BD387282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9775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Com complementos científicos. Estimativas, não faturas.</a:t>
            </a:r>
          </a:p>
        </p:txBody>
      </p:sp>
    </p:spTree>
    <p:extLst>
      <p:ext uri="{BB962C8B-B14F-4D97-AF65-F5344CB8AC3E}">
        <p14:creationId xmlns:p14="http://schemas.microsoft.com/office/powerpoint/2010/main" val="8591491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5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poio: documentos para examinar o caso">
            <a:extLst xmlns:a="http://schemas.openxmlformats.org/drawingml/2006/main">
              <a:ext uri="{FF2B5EF4-FFF2-40B4-BE49-F238E27FC236}">
                <a16:creationId xmlns:a16="http://schemas.microsoft.com/office/drawing/2014/main" id="{BF0DB46F-E8FA-4F86-A39E-769DECA3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10820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Apoio: documentos para examinar o caso</a:t>
            </a:r>
          </a:p>
        </p:txBody>
      </p:sp>
      <p:sp>
        <p:nvSpPr>
          <p:cNvPr id="2" name="Apoio">
            <a:extLst xmlns:a="http://schemas.openxmlformats.org/drawingml/2006/main">
              <a:ext uri="{FF2B5EF4-FFF2-40B4-BE49-F238E27FC236}">
                <a16:creationId xmlns:a16="http://schemas.microsoft.com/office/drawing/2014/main" id="{F7337917-BAB0-4290-BCEA-60F88960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48425"/>
            <a:ext cx="933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86B7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86B79"/>
                </a:solidFill>
                <a:latin typeface="Arial"/>
                <a:ea typeface="Arial"/>
                <a:cs typeface="Arial"/>
              </a:rPr>
              <a:t>Apoio</a:t>
            </a:r>
          </a:p>
        </p:txBody>
      </p:sp>
      <p:sp>
        <p:nvSpPr>
          <p:cNvPr id="3" name="github.com/flavioluiz/TGdoWayne">
            <a:extLst xmlns:a="http://schemas.openxmlformats.org/drawingml/2006/main">
              <a:ext uri="{FF2B5EF4-FFF2-40B4-BE49-F238E27FC236}">
                <a16:creationId xmlns:a16="http://schemas.microsoft.com/office/drawing/2014/main" id="{1C817E8A-7000-4120-9973-69E198BC9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1076325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225" b="1">
                <a:solidFill>
                  <a:srgbClr val="087F8C"/>
                </a:solidFill>
                <a:latin typeface="Arial"/>
                <a:ea typeface="Arial"/>
                <a:cs typeface="Arial"/>
              </a:defRPr>
            </a:pPr>
            <a:r>
              <a:rPr sz="3225" b="1">
                <a:solidFill>
                  <a:srgbClr val="087F8C"/>
                </a:solidFill>
                <a:latin typeface="Arial"/>
                <a:ea typeface="Arial"/>
                <a:cs typeface="Arial"/>
              </a:rPr>
              <a:t>github.com/flavioluiz/TGdoWayne</a:t>
            </a:r>
          </a:p>
        </p:txBody>
      </p:sp>
      <p:sp>
        <p:nvSpPr>
          <p:cNvPr id="4" name="Relatório com evidências e apêndices&#10;Dissertação e manu">
            <a:extLst xmlns:a="http://schemas.openxmlformats.org/drawingml/2006/main">
              <a:ext uri="{FF2B5EF4-FFF2-40B4-BE49-F238E27FC236}">
                <a16:creationId xmlns:a16="http://schemas.microsoft.com/office/drawing/2014/main" id="{56C46141-6B9F-408F-ACAA-A88F3170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10763250" cy="1952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550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Relatório com evidências e apêndices</a:t>
            </a:r>
          </a:p>
          <a:p xmlns:a="http://schemas.openxmlformats.org/drawingml/2006/main">
            <a:pPr>
              <a:defRPr sz="2550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Dissertação e manuscrito revisado</a:t>
            </a:r>
          </a:p>
          <a:p xmlns:a="http://schemas.openxmlformats.org/drawingml/2006/main">
            <a:pPr>
              <a:defRPr sz="2550" b="0">
                <a:solidFill>
                  <a:srgbClr val="253643"/>
                </a:solidFill>
                <a:latin typeface="Arial"/>
                <a:ea typeface="Arial"/>
                <a:cs typeface="Arial"/>
              </a:defRPr>
            </a:pPr>
            <a:r>
              <a:rPr sz="2550" b="0">
                <a:solidFill>
                  <a:srgbClr val="253643"/>
                </a:solidFill>
                <a:latin typeface="Arial"/>
                <a:ea typeface="Arial"/>
                <a:cs typeface="Arial"/>
              </a:rPr>
              <a:t>Código, resultados e registros de revisão</a:t>
            </a:r>
          </a:p>
        </p:txBody>
      </p:sp>
    </p:spTree>
    <p:extLst>
      <p:ext uri="{BB962C8B-B14F-4D97-AF65-F5344CB8AC3E}">
        <p14:creationId xmlns:p14="http://schemas.microsoft.com/office/powerpoint/2010/main" val="9961961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2026-09-13T15:02:56.1270000Z</dcterms:created>
  <dcterms:modified xsi:type="dcterms:W3CDTF">2026-09-13T15:02:56.1270000Z</dcterms:modified>
</coreProperties>
</file>